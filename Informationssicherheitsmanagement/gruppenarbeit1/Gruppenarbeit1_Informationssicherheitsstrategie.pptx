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Satz zum Einstieg: Wir sind eine fiktive Rehaklinik in Klagenfurt, GmbH, ein Standort. Der Kern ist die Reha nach Prostata- und Beckenoperationen. Die Produkte sind Medizinprodukte, keine Ladenware: Vakuumerektion, Beckenbodenstimulation, Stoßwelle. Vision und Mission kurz vorlesen, dann weiter. Nicht über die Gerätenamen dozieren.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erklären, woher das Geld kommt: Kasse, Wahlarzt, Verleih. Dann die rechte Spalte: Diskretion ist kein Werbespruch, sondern der Grund, warum Zuweiser uns Patienten geben. Den Kasten unten als Überleitung zur nächsten Folie nutzen. Nicht in DSGVO-Paragraphen abgleiten, das kommt auf Folie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Zielzustand in einem Atemzug sagen, dann die drei Ziele. Bei Vertraulichkeit Art. 9 nur nennen, nicht erklären, außer jemand fragt. Integrität am Beispiel Geräteeinstellung festmachen. Risikobereitschaft: wir akzeptieren, dass das Gäste-WLAN ausfällt, nicht dass die Akte fehlt. CISO in Vollzeit wäre für 46 Leute unrealistisch, das ist Absicht.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die vier Punkte vorlesen. Sagen: erst Lücke zum Zielzustand, dann Policy, dann Netze, dann Leute und Lieferanten. Bei den Metriken erklären, dass der KGI das Jahresergebnis für die Geschäftsführung ist, der KPI der laufende Puls. Exit-Klausel nur erwähnen, wenn nach Outsourcing gefragt wird. Die VO verlangt das bei ausgelagertem KIS.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820"/>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A15C38"/>
          </a:solidFill>
          <a:ln/>
        </p:spPr>
      </p:sp>
      <p:sp>
        <p:nvSpPr>
          <p:cNvPr id="3" name="Text 1"/>
          <p:cNvSpPr/>
          <p:nvPr/>
        </p:nvSpPr>
        <p:spPr>
          <a:xfrm>
            <a:off x="502920" y="292608"/>
            <a:ext cx="11155680" cy="256032"/>
          </a:xfrm>
          <a:prstGeom prst="rect">
            <a:avLst/>
          </a:prstGeom>
          <a:noFill/>
          <a:ln/>
        </p:spPr>
        <p:txBody>
          <a:bodyPr wrap="square" lIns="0" tIns="0" rIns="0" bIns="0" rtlCol="0" anchor="ctr"/>
          <a:lstStyle/>
          <a:p>
            <a:pPr indent="0" marL="0">
              <a:buNone/>
            </a:pPr>
            <a:r>
              <a:rPr lang="en-US" sz="1200" spc="120" kern="0" dirty="0">
                <a:solidFill>
                  <a:srgbClr val="D7C4B4"/>
                </a:solidFill>
                <a:latin typeface="Arial" pitchFamily="34" charset="0"/>
                <a:ea typeface="Arial" pitchFamily="34" charset="-122"/>
                <a:cs typeface="Arial" pitchFamily="34" charset="-120"/>
              </a:rPr>
              <a:t>622.760  ·  GRUPPE 1  ·  MEDIZIN  ·  PRIVATKLINIK / REHA</a:t>
            </a:r>
            <a:endParaRPr lang="en-US" sz="1200" dirty="0"/>
          </a:p>
        </p:txBody>
      </p:sp>
      <p:sp>
        <p:nvSpPr>
          <p:cNvPr id="4" name="Text 2"/>
          <p:cNvSpPr/>
          <p:nvPr/>
        </p:nvSpPr>
        <p:spPr>
          <a:xfrm>
            <a:off x="502920" y="621792"/>
            <a:ext cx="10972800" cy="566928"/>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Pelvina Reha GmbH</a:t>
            </a:r>
            <a:endParaRPr lang="en-US" sz="3600" dirty="0"/>
          </a:p>
        </p:txBody>
      </p:sp>
      <p:sp>
        <p:nvSpPr>
          <p:cNvPr id="5" name="Text 3"/>
          <p:cNvSpPr/>
          <p:nvPr/>
        </p:nvSpPr>
        <p:spPr>
          <a:xfrm>
            <a:off x="502920" y="1225296"/>
            <a:ext cx="10515600" cy="329184"/>
          </a:xfrm>
          <a:prstGeom prst="rect">
            <a:avLst/>
          </a:prstGeom>
          <a:noFill/>
          <a:ln/>
        </p:spPr>
        <p:txBody>
          <a:bodyPr wrap="square" lIns="0" tIns="0" rIns="0" bIns="0" rtlCol="0" anchor="ctr"/>
          <a:lstStyle/>
          <a:p>
            <a:pPr indent="0" marL="0">
              <a:buNone/>
            </a:pPr>
            <a:r>
              <a:rPr lang="en-US" sz="1600" dirty="0">
                <a:solidFill>
                  <a:srgbClr val="E7EEE9"/>
                </a:solidFill>
                <a:latin typeface="Arial" pitchFamily="34" charset="0"/>
                <a:ea typeface="Arial" pitchFamily="34" charset="-122"/>
                <a:cs typeface="Arial" pitchFamily="34" charset="-120"/>
              </a:rPr>
              <a:t>Reha nach Prostata- und Beckenoperationen. Ein Standort in Klagenfurt, ein Kernbereich.</a:t>
            </a:r>
            <a:endParaRPr lang="en-US" sz="1600" dirty="0"/>
          </a:p>
        </p:txBody>
      </p:sp>
      <p:sp>
        <p:nvSpPr>
          <p:cNvPr id="6" name="Shape 4"/>
          <p:cNvSpPr/>
          <p:nvPr/>
        </p:nvSpPr>
        <p:spPr>
          <a:xfrm>
            <a:off x="502920" y="1783080"/>
            <a:ext cx="2724912" cy="1417320"/>
          </a:xfrm>
          <a:prstGeom prst="rect">
            <a:avLst/>
          </a:prstGeom>
          <a:solidFill>
            <a:srgbClr val="1E4036"/>
          </a:solidFill>
          <a:ln/>
        </p:spPr>
      </p:sp>
      <p:sp>
        <p:nvSpPr>
          <p:cNvPr id="7" name="Text 5"/>
          <p:cNvSpPr/>
          <p:nvPr/>
        </p:nvSpPr>
        <p:spPr>
          <a:xfrm>
            <a:off x="649224" y="1883664"/>
            <a:ext cx="2432304" cy="256032"/>
          </a:xfrm>
          <a:prstGeom prst="rect">
            <a:avLst/>
          </a:prstGeom>
          <a:noFill/>
          <a:ln/>
        </p:spPr>
        <p:txBody>
          <a:bodyPr wrap="square" lIns="0" tIns="0" rIns="0" bIns="0" rtlCol="0" anchor="ctr"/>
          <a:lstStyle/>
          <a:p>
            <a:pPr indent="0" marL="0">
              <a:buNone/>
            </a:pPr>
            <a:r>
              <a:rPr lang="en-US" sz="1200" b="1" dirty="0">
                <a:solidFill>
                  <a:srgbClr val="E0B89A"/>
                </a:solidFill>
                <a:latin typeface="Arial" pitchFamily="34" charset="0"/>
                <a:ea typeface="Arial" pitchFamily="34" charset="-122"/>
                <a:cs typeface="Arial" pitchFamily="34" charset="-120"/>
              </a:rPr>
              <a:t>Rechtsform</a:t>
            </a:r>
            <a:endParaRPr lang="en-US" sz="1200" dirty="0"/>
          </a:p>
        </p:txBody>
      </p:sp>
      <p:sp>
        <p:nvSpPr>
          <p:cNvPr id="8" name="Text 6"/>
          <p:cNvSpPr/>
          <p:nvPr/>
        </p:nvSpPr>
        <p:spPr>
          <a:xfrm>
            <a:off x="649224" y="2194560"/>
            <a:ext cx="2432304" cy="82296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GmbH, KMU</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Österreich, Klagenfurt</a:t>
            </a:r>
            <a:endParaRPr lang="en-US" sz="1500" dirty="0"/>
          </a:p>
        </p:txBody>
      </p:sp>
      <p:sp>
        <p:nvSpPr>
          <p:cNvPr id="9" name="Shape 7"/>
          <p:cNvSpPr/>
          <p:nvPr/>
        </p:nvSpPr>
        <p:spPr>
          <a:xfrm>
            <a:off x="3383280" y="1783080"/>
            <a:ext cx="2724912" cy="1417320"/>
          </a:xfrm>
          <a:prstGeom prst="rect">
            <a:avLst/>
          </a:prstGeom>
          <a:solidFill>
            <a:srgbClr val="1E4036"/>
          </a:solidFill>
          <a:ln/>
        </p:spPr>
      </p:sp>
      <p:sp>
        <p:nvSpPr>
          <p:cNvPr id="10" name="Text 8"/>
          <p:cNvSpPr/>
          <p:nvPr/>
        </p:nvSpPr>
        <p:spPr>
          <a:xfrm>
            <a:off x="3529584" y="1883664"/>
            <a:ext cx="2432304" cy="256032"/>
          </a:xfrm>
          <a:prstGeom prst="rect">
            <a:avLst/>
          </a:prstGeom>
          <a:noFill/>
          <a:ln/>
        </p:spPr>
        <p:txBody>
          <a:bodyPr wrap="square" lIns="0" tIns="0" rIns="0" bIns="0" rtlCol="0" anchor="ctr"/>
          <a:lstStyle/>
          <a:p>
            <a:pPr indent="0" marL="0">
              <a:buNone/>
            </a:pPr>
            <a:r>
              <a:rPr lang="en-US" sz="1200" b="1" dirty="0">
                <a:solidFill>
                  <a:srgbClr val="E0B89A"/>
                </a:solidFill>
                <a:latin typeface="Arial" pitchFamily="34" charset="0"/>
                <a:ea typeface="Arial" pitchFamily="34" charset="-122"/>
                <a:cs typeface="Arial" pitchFamily="34" charset="-120"/>
              </a:rPr>
              <a:t>Größe</a:t>
            </a:r>
            <a:endParaRPr lang="en-US" sz="1200" dirty="0"/>
          </a:p>
        </p:txBody>
      </p:sp>
      <p:sp>
        <p:nvSpPr>
          <p:cNvPr id="11" name="Text 9"/>
          <p:cNvSpPr/>
          <p:nvPr/>
        </p:nvSpPr>
        <p:spPr>
          <a:xfrm>
            <a:off x="3529584" y="2194560"/>
            <a:ext cx="2432304" cy="82296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46 Mitarbeitende</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22 Betten, Ambulanz</a:t>
            </a:r>
            <a:endParaRPr lang="en-US" sz="1500" dirty="0"/>
          </a:p>
        </p:txBody>
      </p:sp>
      <p:sp>
        <p:nvSpPr>
          <p:cNvPr id="12" name="Shape 10"/>
          <p:cNvSpPr/>
          <p:nvPr/>
        </p:nvSpPr>
        <p:spPr>
          <a:xfrm>
            <a:off x="6263640" y="1783080"/>
            <a:ext cx="2724912" cy="1417320"/>
          </a:xfrm>
          <a:prstGeom prst="rect">
            <a:avLst/>
          </a:prstGeom>
          <a:solidFill>
            <a:srgbClr val="1E4036"/>
          </a:solidFill>
          <a:ln/>
        </p:spPr>
      </p:sp>
      <p:sp>
        <p:nvSpPr>
          <p:cNvPr id="13" name="Text 11"/>
          <p:cNvSpPr/>
          <p:nvPr/>
        </p:nvSpPr>
        <p:spPr>
          <a:xfrm>
            <a:off x="6409944" y="1883664"/>
            <a:ext cx="2432304" cy="256032"/>
          </a:xfrm>
          <a:prstGeom prst="rect">
            <a:avLst/>
          </a:prstGeom>
          <a:noFill/>
          <a:ln/>
        </p:spPr>
        <p:txBody>
          <a:bodyPr wrap="square" lIns="0" tIns="0" rIns="0" bIns="0" rtlCol="0" anchor="ctr"/>
          <a:lstStyle/>
          <a:p>
            <a:pPr indent="0" marL="0">
              <a:buNone/>
            </a:pPr>
            <a:r>
              <a:rPr lang="en-US" sz="1200" b="1" dirty="0">
                <a:solidFill>
                  <a:srgbClr val="E0B89A"/>
                </a:solidFill>
                <a:latin typeface="Arial" pitchFamily="34" charset="0"/>
                <a:ea typeface="Arial" pitchFamily="34" charset="-122"/>
                <a:cs typeface="Arial" pitchFamily="34" charset="-120"/>
              </a:rPr>
              <a:t>Kernbereich</a:t>
            </a:r>
            <a:endParaRPr lang="en-US" sz="1200" dirty="0"/>
          </a:p>
        </p:txBody>
      </p:sp>
      <p:sp>
        <p:nvSpPr>
          <p:cNvPr id="14" name="Text 12"/>
          <p:cNvSpPr/>
          <p:nvPr/>
        </p:nvSpPr>
        <p:spPr>
          <a:xfrm>
            <a:off x="6409944" y="2194560"/>
            <a:ext cx="2432304" cy="82296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Sexuelle Funktion</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und Beckenboden</a:t>
            </a:r>
            <a:endParaRPr lang="en-US" sz="1500" dirty="0"/>
          </a:p>
        </p:txBody>
      </p:sp>
      <p:sp>
        <p:nvSpPr>
          <p:cNvPr id="15" name="Shape 13"/>
          <p:cNvSpPr/>
          <p:nvPr/>
        </p:nvSpPr>
        <p:spPr>
          <a:xfrm>
            <a:off x="9144000" y="1783080"/>
            <a:ext cx="2724912" cy="1417320"/>
          </a:xfrm>
          <a:prstGeom prst="rect">
            <a:avLst/>
          </a:prstGeom>
          <a:solidFill>
            <a:srgbClr val="1E4036"/>
          </a:solidFill>
          <a:ln/>
        </p:spPr>
      </p:sp>
      <p:sp>
        <p:nvSpPr>
          <p:cNvPr id="16" name="Text 14"/>
          <p:cNvSpPr/>
          <p:nvPr/>
        </p:nvSpPr>
        <p:spPr>
          <a:xfrm>
            <a:off x="9290304" y="1883664"/>
            <a:ext cx="2432304" cy="256032"/>
          </a:xfrm>
          <a:prstGeom prst="rect">
            <a:avLst/>
          </a:prstGeom>
          <a:noFill/>
          <a:ln/>
        </p:spPr>
        <p:txBody>
          <a:bodyPr wrap="square" lIns="0" tIns="0" rIns="0" bIns="0" rtlCol="0" anchor="ctr"/>
          <a:lstStyle/>
          <a:p>
            <a:pPr indent="0" marL="0">
              <a:buNone/>
            </a:pPr>
            <a:r>
              <a:rPr lang="en-US" sz="1200" b="1" dirty="0">
                <a:solidFill>
                  <a:srgbClr val="E0B89A"/>
                </a:solidFill>
                <a:latin typeface="Arial" pitchFamily="34" charset="0"/>
                <a:ea typeface="Arial" pitchFamily="34" charset="-122"/>
                <a:cs typeface="Arial" pitchFamily="34" charset="-120"/>
              </a:rPr>
              <a:t>Zuweisung</a:t>
            </a:r>
            <a:endParaRPr lang="en-US" sz="1200" dirty="0"/>
          </a:p>
        </p:txBody>
      </p:sp>
      <p:sp>
        <p:nvSpPr>
          <p:cNvPr id="17" name="Text 15"/>
          <p:cNvSpPr/>
          <p:nvPr/>
        </p:nvSpPr>
        <p:spPr>
          <a:xfrm>
            <a:off x="9290304" y="2194560"/>
            <a:ext cx="2432304" cy="82296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Urologie, Gynäkologie</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Kasse und Wahlarzt</a:t>
            </a:r>
            <a:endParaRPr lang="en-US" sz="1500" dirty="0"/>
          </a:p>
        </p:txBody>
      </p:sp>
      <p:sp>
        <p:nvSpPr>
          <p:cNvPr id="18" name="Text 16"/>
          <p:cNvSpPr/>
          <p:nvPr/>
        </p:nvSpPr>
        <p:spPr>
          <a:xfrm>
            <a:off x="502920" y="3456432"/>
            <a:ext cx="2743200" cy="237744"/>
          </a:xfrm>
          <a:prstGeom prst="rect">
            <a:avLst/>
          </a:prstGeom>
          <a:noFill/>
          <a:ln/>
        </p:spPr>
        <p:txBody>
          <a:bodyPr wrap="square" lIns="0" tIns="0" rIns="0" bIns="0" rtlCol="0" anchor="ctr"/>
          <a:lstStyle/>
          <a:p>
            <a:pPr indent="0" marL="0">
              <a:buNone/>
            </a:pPr>
            <a:r>
              <a:rPr lang="en-US" sz="1200" b="1" spc="110" kern="0" dirty="0">
                <a:solidFill>
                  <a:srgbClr val="E0B89A"/>
                </a:solidFill>
                <a:latin typeface="Arial" pitchFamily="34" charset="0"/>
                <a:ea typeface="Arial" pitchFamily="34" charset="-122"/>
                <a:cs typeface="Arial" pitchFamily="34" charset="-120"/>
              </a:rPr>
              <a:t>VISION</a:t>
            </a:r>
            <a:endParaRPr lang="en-US" sz="1200" dirty="0"/>
          </a:p>
        </p:txBody>
      </p:sp>
      <p:sp>
        <p:nvSpPr>
          <p:cNvPr id="19" name="Text 17"/>
          <p:cNvSpPr/>
          <p:nvPr/>
        </p:nvSpPr>
        <p:spPr>
          <a:xfrm>
            <a:off x="502920" y="3730752"/>
            <a:ext cx="6949440" cy="7772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Nach einer Prostata- oder Beckenoperation sollen Patientinnen und Patienten Funktion und Alltag zurückbekommen. Die Krankengeschichte bleibt im Behandlungsteam.</a:t>
            </a:r>
            <a:endParaRPr lang="en-US" sz="1600" dirty="0"/>
          </a:p>
        </p:txBody>
      </p:sp>
      <p:sp>
        <p:nvSpPr>
          <p:cNvPr id="20" name="Text 18"/>
          <p:cNvSpPr/>
          <p:nvPr/>
        </p:nvSpPr>
        <p:spPr>
          <a:xfrm>
            <a:off x="502920" y="4617720"/>
            <a:ext cx="2743200" cy="237744"/>
          </a:xfrm>
          <a:prstGeom prst="rect">
            <a:avLst/>
          </a:prstGeom>
          <a:noFill/>
          <a:ln/>
        </p:spPr>
        <p:txBody>
          <a:bodyPr wrap="square" lIns="0" tIns="0" rIns="0" bIns="0" rtlCol="0" anchor="ctr"/>
          <a:lstStyle/>
          <a:p>
            <a:pPr indent="0" marL="0">
              <a:buNone/>
            </a:pPr>
            <a:r>
              <a:rPr lang="en-US" sz="1200" b="1" spc="110" kern="0" dirty="0">
                <a:solidFill>
                  <a:srgbClr val="E0B89A"/>
                </a:solidFill>
                <a:latin typeface="Arial" pitchFamily="34" charset="0"/>
                <a:ea typeface="Arial" pitchFamily="34" charset="-122"/>
                <a:cs typeface="Arial" pitchFamily="34" charset="-120"/>
              </a:rPr>
              <a:t>MISSION</a:t>
            </a:r>
            <a:endParaRPr lang="en-US" sz="1200" dirty="0"/>
          </a:p>
        </p:txBody>
      </p:sp>
      <p:sp>
        <p:nvSpPr>
          <p:cNvPr id="21" name="Text 19"/>
          <p:cNvSpPr/>
          <p:nvPr/>
        </p:nvSpPr>
        <p:spPr>
          <a:xfrm>
            <a:off x="502920" y="4892040"/>
            <a:ext cx="7589520" cy="7772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Stationäre Kurzreha und Ambulanz. Drei Medizinprodukte mit CE-Kennzeichnung: Vakuumerektionssysteme, Beckenbodenstimulatoren, extrakorporale Stoßwelle. Kein Handel mit Konsumartikeln.</a:t>
            </a:r>
            <a:endParaRPr lang="en-US" sz="1600" dirty="0"/>
          </a:p>
        </p:txBody>
      </p:sp>
      <p:sp>
        <p:nvSpPr>
          <p:cNvPr id="22" name="Shape 20"/>
          <p:cNvSpPr/>
          <p:nvPr/>
        </p:nvSpPr>
        <p:spPr>
          <a:xfrm>
            <a:off x="8366760" y="3456432"/>
            <a:ext cx="3291840" cy="2697480"/>
          </a:xfrm>
          <a:prstGeom prst="rect">
            <a:avLst/>
          </a:prstGeom>
          <a:solidFill>
            <a:srgbClr val="1E4036"/>
          </a:solidFill>
          <a:ln/>
        </p:spPr>
      </p:sp>
      <p:sp>
        <p:nvSpPr>
          <p:cNvPr id="23" name="Text 21"/>
          <p:cNvSpPr/>
          <p:nvPr/>
        </p:nvSpPr>
        <p:spPr>
          <a:xfrm>
            <a:off x="8549640" y="3621024"/>
            <a:ext cx="2926080" cy="566928"/>
          </a:xfrm>
          <a:prstGeom prst="rect">
            <a:avLst/>
          </a:prstGeom>
          <a:noFill/>
          <a:ln/>
        </p:spPr>
        <p:txBody>
          <a:bodyPr wrap="square" lIns="0" tIns="0" rIns="0" bIns="0" rtlCol="0" anchor="ctr"/>
          <a:lstStyle/>
          <a:p>
            <a:pPr indent="0" marL="0">
              <a:buNone/>
            </a:pPr>
            <a:r>
              <a:rPr lang="en-US" sz="1300" b="1" dirty="0">
                <a:solidFill>
                  <a:srgbClr val="E0B89A"/>
                </a:solidFill>
                <a:latin typeface="Arial" pitchFamily="34" charset="0"/>
                <a:ea typeface="Arial" pitchFamily="34" charset="-122"/>
                <a:cs typeface="Arial" pitchFamily="34" charset="-120"/>
              </a:rPr>
              <a:t>WORAN MAN UNS</a:t>
            </a:r>
            <a:endParaRPr lang="en-US" sz="1300" dirty="0"/>
          </a:p>
          <a:p>
            <a:pPr indent="0" marL="0">
              <a:buNone/>
            </a:pPr>
            <a:r>
              <a:rPr lang="en-US" sz="1300" b="1" dirty="0">
                <a:solidFill>
                  <a:srgbClr val="E0B89A"/>
                </a:solidFill>
                <a:latin typeface="Arial" pitchFamily="34" charset="0"/>
                <a:ea typeface="Arial" pitchFamily="34" charset="-122"/>
                <a:cs typeface="Arial" pitchFamily="34" charset="-120"/>
              </a:rPr>
              <a:t>MISST</a:t>
            </a:r>
            <a:endParaRPr lang="en-US" sz="1300" dirty="0"/>
          </a:p>
        </p:txBody>
      </p:sp>
      <p:sp>
        <p:nvSpPr>
          <p:cNvPr id="24" name="Text 22"/>
          <p:cNvSpPr/>
          <p:nvPr/>
        </p:nvSpPr>
        <p:spPr>
          <a:xfrm>
            <a:off x="8549640" y="4297680"/>
            <a:ext cx="2926080" cy="155448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Therapie, die zuweist.</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Diskretion, über die niemand redet.</a:t>
            </a:r>
            <a:endParaRPr lang="en-US" sz="1500" dirty="0"/>
          </a:p>
          <a:p>
            <a:pPr indent="0" marL="0">
              <a:buNone/>
            </a:pPr>
            <a:r>
              <a:rPr lang="en-US" sz="1500" dirty="0">
                <a:solidFill>
                  <a:srgbClr val="FFFFFF"/>
                </a:solidFill>
                <a:latin typeface="Arial" pitchFamily="34" charset="0"/>
                <a:ea typeface="Arial" pitchFamily="34" charset="-122"/>
                <a:cs typeface="Arial" pitchFamily="34" charset="-120"/>
              </a:rPr>
              <a:t>Geräteparameter, die zur Akte passen.</a:t>
            </a:r>
            <a:endParaRPr lang="en-US" sz="1500" dirty="0"/>
          </a:p>
        </p:txBody>
      </p:sp>
      <p:sp>
        <p:nvSpPr>
          <p:cNvPr id="25" name="Text 23"/>
          <p:cNvSpPr/>
          <p:nvPr/>
        </p:nvSpPr>
        <p:spPr>
          <a:xfrm>
            <a:off x="502920" y="6510528"/>
            <a:ext cx="7498080" cy="219456"/>
          </a:xfrm>
          <a:prstGeom prst="rect">
            <a:avLst/>
          </a:prstGeom>
          <a:noFill/>
          <a:ln/>
        </p:spPr>
        <p:txBody>
          <a:bodyPr wrap="square" lIns="0" tIns="0" rIns="0" bIns="0" rtlCol="0" anchor="ctr"/>
          <a:lstStyle/>
          <a:p>
            <a:pPr indent="0" marL="0">
              <a:buNone/>
            </a:pPr>
            <a:r>
              <a:rPr lang="en-US" sz="1100" dirty="0">
                <a:solidFill>
                  <a:srgbClr val="C9D4CE"/>
                </a:solidFill>
                <a:latin typeface="Arial" pitchFamily="34" charset="0"/>
                <a:ea typeface="Arial" pitchFamily="34" charset="-122"/>
                <a:cs typeface="Arial" pitchFamily="34" charset="-120"/>
              </a:rPr>
              <a:t>622.760  ·  Gruppe 1  ·  fiktives Unternehmen  ·  Abgabe 03.11.2026</a:t>
            </a:r>
            <a:endParaRPr lang="en-US" sz="1100" dirty="0"/>
          </a:p>
        </p:txBody>
      </p:sp>
      <p:sp>
        <p:nvSpPr>
          <p:cNvPr id="26" name="Text 24"/>
          <p:cNvSpPr/>
          <p:nvPr/>
        </p:nvSpPr>
        <p:spPr>
          <a:xfrm>
            <a:off x="6766560" y="6510528"/>
            <a:ext cx="4937760" cy="219456"/>
          </a:xfrm>
          <a:prstGeom prst="rect">
            <a:avLst/>
          </a:prstGeom>
          <a:noFill/>
          <a:ln/>
        </p:spPr>
        <p:txBody>
          <a:bodyPr wrap="square" lIns="0" tIns="0" rIns="0" bIns="0" rtlCol="0" anchor="ctr"/>
          <a:lstStyle/>
          <a:p>
            <a:pPr algn="r" indent="0" marL="0">
              <a:buNone/>
            </a:pPr>
            <a:r>
              <a:rPr lang="en-US" sz="1100" dirty="0">
                <a:solidFill>
                  <a:srgbClr val="C9D4CE"/>
                </a:solidFill>
                <a:latin typeface="Arial" pitchFamily="34" charset="0"/>
                <a:ea typeface="Arial" pitchFamily="34" charset="-122"/>
                <a:cs typeface="Arial" pitchFamily="34" charset="-120"/>
              </a:rPr>
              <a:t>Bleier · Bugelnig · Lugger · Mele · Schmickl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A15C38"/>
          </a:solidFill>
          <a:ln/>
        </p:spPr>
      </p:sp>
      <p:sp>
        <p:nvSpPr>
          <p:cNvPr id="3" name="Text 1"/>
          <p:cNvSpPr/>
          <p:nvPr/>
        </p:nvSpPr>
        <p:spPr>
          <a:xfrm>
            <a:off x="502920" y="256032"/>
            <a:ext cx="7315200" cy="219456"/>
          </a:xfrm>
          <a:prstGeom prst="rect">
            <a:avLst/>
          </a:prstGeom>
          <a:noFill/>
          <a:ln/>
        </p:spPr>
        <p:txBody>
          <a:bodyPr wrap="square" lIns="0" tIns="0" rIns="0" bIns="0" rtlCol="0" anchor="ctr"/>
          <a:lstStyle/>
          <a:p>
            <a:pPr indent="0" marL="0">
              <a:buNone/>
            </a:pPr>
            <a:r>
              <a:rPr lang="en-US" sz="1200" b="1" spc="110" kern="0" dirty="0">
                <a:solidFill>
                  <a:srgbClr val="A15C38"/>
                </a:solidFill>
                <a:latin typeface="Arial" pitchFamily="34" charset="0"/>
                <a:ea typeface="Arial" pitchFamily="34" charset="-122"/>
                <a:cs typeface="Arial" pitchFamily="34" charset="-120"/>
              </a:rPr>
              <a:t>GESCHÄFTSSTRATEGIE</a:t>
            </a:r>
            <a:endParaRPr lang="en-US" sz="1200" dirty="0"/>
          </a:p>
        </p:txBody>
      </p:sp>
      <p:sp>
        <p:nvSpPr>
          <p:cNvPr id="4" name="Text 2"/>
          <p:cNvSpPr/>
          <p:nvPr/>
        </p:nvSpPr>
        <p:spPr>
          <a:xfrm>
            <a:off x="502920" y="493776"/>
            <a:ext cx="10972800" cy="420624"/>
          </a:xfrm>
          <a:prstGeom prst="rect">
            <a:avLst/>
          </a:prstGeom>
          <a:noFill/>
          <a:ln/>
        </p:spPr>
        <p:txBody>
          <a:bodyPr wrap="square" lIns="0" tIns="0" rIns="0" bIns="0" rtlCol="0" anchor="ctr"/>
          <a:lstStyle/>
          <a:p>
            <a:pPr indent="0" marL="0">
              <a:buNone/>
            </a:pPr>
            <a:r>
              <a:rPr lang="en-US" sz="2800" b="1" dirty="0">
                <a:solidFill>
                  <a:srgbClr val="1C1917"/>
                </a:solidFill>
                <a:latin typeface="Arial" pitchFamily="34" charset="0"/>
                <a:ea typeface="Arial" pitchFamily="34" charset="-122"/>
                <a:cs typeface="Arial" pitchFamily="34" charset="-120"/>
              </a:rPr>
              <a:t>Womit die Klinik ihr Geld verdient</a:t>
            </a:r>
            <a:endParaRPr lang="en-US" sz="2800" dirty="0"/>
          </a:p>
        </p:txBody>
      </p:sp>
      <p:sp>
        <p:nvSpPr>
          <p:cNvPr id="5" name="Shape 3"/>
          <p:cNvSpPr/>
          <p:nvPr/>
        </p:nvSpPr>
        <p:spPr>
          <a:xfrm>
            <a:off x="502920" y="1097280"/>
            <a:ext cx="7452360" cy="1060704"/>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6" name="Text 4"/>
          <p:cNvSpPr/>
          <p:nvPr/>
        </p:nvSpPr>
        <p:spPr>
          <a:xfrm>
            <a:off x="676656" y="1353312"/>
            <a:ext cx="640080" cy="45720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1417320" y="1225296"/>
            <a:ext cx="6309360" cy="292608"/>
          </a:xfrm>
          <a:prstGeom prst="rect">
            <a:avLst/>
          </a:prstGeom>
          <a:noFill/>
          <a:ln/>
        </p:spPr>
        <p:txBody>
          <a:bodyPr wrap="square" lIns="0" tIns="0" rIns="0" bIns="0" rtlCol="0" anchor="ctr"/>
          <a:lstStyle/>
          <a:p>
            <a:pPr indent="0" marL="0">
              <a:buNone/>
            </a:pPr>
            <a:r>
              <a:rPr lang="en-US" sz="1600" b="1" dirty="0">
                <a:solidFill>
                  <a:srgbClr val="1C1917"/>
                </a:solidFill>
                <a:latin typeface="Arial" pitchFamily="34" charset="0"/>
                <a:ea typeface="Arial" pitchFamily="34" charset="-122"/>
                <a:cs typeface="Arial" pitchFamily="34" charset="-120"/>
              </a:rPr>
              <a:t>Kassen-Reha</a:t>
            </a:r>
            <a:endParaRPr lang="en-US" sz="1600" dirty="0"/>
          </a:p>
        </p:txBody>
      </p:sp>
      <p:sp>
        <p:nvSpPr>
          <p:cNvPr id="8" name="Text 6"/>
          <p:cNvSpPr/>
          <p:nvPr/>
        </p:nvSpPr>
        <p:spPr>
          <a:xfrm>
            <a:off x="1417320" y="1536192"/>
            <a:ext cx="6309360" cy="502920"/>
          </a:xfrm>
          <a:prstGeom prst="rect">
            <a:avLst/>
          </a:prstGeom>
          <a:noFill/>
          <a:ln/>
        </p:spPr>
        <p:txBody>
          <a:bodyPr wrap="square" lIns="0" tIns="0" rIns="0" bIns="0" rtlCol="0" anchor="ctr"/>
          <a:lstStyle/>
          <a:p>
            <a:pPr indent="0" marL="0">
              <a:buNone/>
            </a:pPr>
            <a:r>
              <a:rPr lang="en-US" sz="1400" dirty="0">
                <a:solidFill>
                  <a:srgbClr val="3F4744"/>
                </a:solidFill>
                <a:latin typeface="Arial" pitchFamily="34" charset="0"/>
                <a:ea typeface="Arial" pitchFamily="34" charset="-122"/>
                <a:cs typeface="Arial" pitchFamily="34" charset="-120"/>
              </a:rPr>
              <a:t>Tagessätze über ÖGK, SVS und BVAEB. Das ist der Hauptumsatz. Ohne belegte Betten steht der Standort.</a:t>
            </a:r>
            <a:endParaRPr lang="en-US" sz="1400" dirty="0"/>
          </a:p>
        </p:txBody>
      </p:sp>
      <p:sp>
        <p:nvSpPr>
          <p:cNvPr id="9" name="Shape 7"/>
          <p:cNvSpPr/>
          <p:nvPr/>
        </p:nvSpPr>
        <p:spPr>
          <a:xfrm>
            <a:off x="502920" y="2267712"/>
            <a:ext cx="7452360" cy="1060704"/>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10" name="Text 8"/>
          <p:cNvSpPr/>
          <p:nvPr/>
        </p:nvSpPr>
        <p:spPr>
          <a:xfrm>
            <a:off x="676656" y="2523744"/>
            <a:ext cx="640080" cy="45720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02</a:t>
            </a:r>
            <a:endParaRPr lang="en-US" sz="1800" dirty="0"/>
          </a:p>
        </p:txBody>
      </p:sp>
      <p:sp>
        <p:nvSpPr>
          <p:cNvPr id="11" name="Text 9"/>
          <p:cNvSpPr/>
          <p:nvPr/>
        </p:nvSpPr>
        <p:spPr>
          <a:xfrm>
            <a:off x="1417320" y="2395728"/>
            <a:ext cx="6309360" cy="292608"/>
          </a:xfrm>
          <a:prstGeom prst="rect">
            <a:avLst/>
          </a:prstGeom>
          <a:noFill/>
          <a:ln/>
        </p:spPr>
        <p:txBody>
          <a:bodyPr wrap="square" lIns="0" tIns="0" rIns="0" bIns="0" rtlCol="0" anchor="ctr"/>
          <a:lstStyle/>
          <a:p>
            <a:pPr indent="0" marL="0">
              <a:buNone/>
            </a:pPr>
            <a:r>
              <a:rPr lang="en-US" sz="1600" b="1" dirty="0">
                <a:solidFill>
                  <a:srgbClr val="1C1917"/>
                </a:solidFill>
                <a:latin typeface="Arial" pitchFamily="34" charset="0"/>
                <a:ea typeface="Arial" pitchFamily="34" charset="-122"/>
                <a:cs typeface="Arial" pitchFamily="34" charset="-120"/>
              </a:rPr>
              <a:t>Wahlarzt-Ambulanz</a:t>
            </a:r>
            <a:endParaRPr lang="en-US" sz="1600" dirty="0"/>
          </a:p>
        </p:txBody>
      </p:sp>
      <p:sp>
        <p:nvSpPr>
          <p:cNvPr id="12" name="Text 10"/>
          <p:cNvSpPr/>
          <p:nvPr/>
        </p:nvSpPr>
        <p:spPr>
          <a:xfrm>
            <a:off x="1417320" y="2706624"/>
            <a:ext cx="6309360" cy="502920"/>
          </a:xfrm>
          <a:prstGeom prst="rect">
            <a:avLst/>
          </a:prstGeom>
          <a:noFill/>
          <a:ln/>
        </p:spPr>
        <p:txBody>
          <a:bodyPr wrap="square" lIns="0" tIns="0" rIns="0" bIns="0" rtlCol="0" anchor="ctr"/>
          <a:lstStyle/>
          <a:p>
            <a:pPr indent="0" marL="0">
              <a:buNone/>
            </a:pPr>
            <a:r>
              <a:rPr lang="en-US" sz="1400" dirty="0">
                <a:solidFill>
                  <a:srgbClr val="3F4744"/>
                </a:solidFill>
                <a:latin typeface="Arial" pitchFamily="34" charset="0"/>
                <a:ea typeface="Arial" pitchFamily="34" charset="-122"/>
                <a:cs typeface="Arial" pitchFamily="34" charset="-120"/>
              </a:rPr>
              <a:t>Kontrollen und Ersteinstellung nach der Entlassung. Läuft über Zuweiser in Kärnten, nicht über Werbung.</a:t>
            </a:r>
            <a:endParaRPr lang="en-US" sz="1400" dirty="0"/>
          </a:p>
        </p:txBody>
      </p:sp>
      <p:sp>
        <p:nvSpPr>
          <p:cNvPr id="13" name="Shape 11"/>
          <p:cNvSpPr/>
          <p:nvPr/>
        </p:nvSpPr>
        <p:spPr>
          <a:xfrm>
            <a:off x="502920" y="3438144"/>
            <a:ext cx="7452360" cy="1060704"/>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14" name="Text 12"/>
          <p:cNvSpPr/>
          <p:nvPr/>
        </p:nvSpPr>
        <p:spPr>
          <a:xfrm>
            <a:off x="676656" y="3694176"/>
            <a:ext cx="640080" cy="45720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1417320" y="3566160"/>
            <a:ext cx="6309360" cy="292608"/>
          </a:xfrm>
          <a:prstGeom prst="rect">
            <a:avLst/>
          </a:prstGeom>
          <a:noFill/>
          <a:ln/>
        </p:spPr>
        <p:txBody>
          <a:bodyPr wrap="square" lIns="0" tIns="0" rIns="0" bIns="0" rtlCol="0" anchor="ctr"/>
          <a:lstStyle/>
          <a:p>
            <a:pPr indent="0" marL="0">
              <a:buNone/>
            </a:pPr>
            <a:r>
              <a:rPr lang="en-US" sz="1600" b="1" dirty="0">
                <a:solidFill>
                  <a:srgbClr val="1C1917"/>
                </a:solidFill>
                <a:latin typeface="Arial" pitchFamily="34" charset="0"/>
                <a:ea typeface="Arial" pitchFamily="34" charset="-122"/>
                <a:cs typeface="Arial" pitchFamily="34" charset="-120"/>
              </a:rPr>
              <a:t>Geräteverleih</a:t>
            </a:r>
            <a:endParaRPr lang="en-US" sz="1600" dirty="0"/>
          </a:p>
        </p:txBody>
      </p:sp>
      <p:sp>
        <p:nvSpPr>
          <p:cNvPr id="16" name="Text 14"/>
          <p:cNvSpPr/>
          <p:nvPr/>
        </p:nvSpPr>
        <p:spPr>
          <a:xfrm>
            <a:off x="1417320" y="3877056"/>
            <a:ext cx="6309360" cy="502920"/>
          </a:xfrm>
          <a:prstGeom prst="rect">
            <a:avLst/>
          </a:prstGeom>
          <a:noFill/>
          <a:ln/>
        </p:spPr>
        <p:txBody>
          <a:bodyPr wrap="square" lIns="0" tIns="0" rIns="0" bIns="0" rtlCol="0" anchor="ctr"/>
          <a:lstStyle/>
          <a:p>
            <a:pPr indent="0" marL="0">
              <a:buNone/>
            </a:pPr>
            <a:r>
              <a:rPr lang="en-US" sz="1400" dirty="0">
                <a:solidFill>
                  <a:srgbClr val="3F4744"/>
                </a:solidFill>
                <a:latin typeface="Arial" pitchFamily="34" charset="0"/>
                <a:ea typeface="Arial" pitchFamily="34" charset="-122"/>
                <a:cs typeface="Arial" pitchFamily="34" charset="-120"/>
              </a:rPr>
              <a:t>Dieselben drei Medizinprodukte für die Heimphase, nur nach Schulung. Kein offener Verkauf.</a:t>
            </a:r>
            <a:endParaRPr lang="en-US" sz="1400" dirty="0"/>
          </a:p>
        </p:txBody>
      </p:sp>
      <p:sp>
        <p:nvSpPr>
          <p:cNvPr id="17" name="Shape 15"/>
          <p:cNvSpPr/>
          <p:nvPr/>
        </p:nvSpPr>
        <p:spPr>
          <a:xfrm>
            <a:off x="8183880" y="1097280"/>
            <a:ext cx="3520440" cy="3511296"/>
          </a:xfrm>
          <a:prstGeom prst="rect">
            <a:avLst/>
          </a:prstGeom>
          <a:solidFill>
            <a:srgbClr val="1B3A32"/>
          </a:solidFill>
          <a:ln/>
        </p:spPr>
      </p:sp>
      <p:sp>
        <p:nvSpPr>
          <p:cNvPr id="18" name="Text 16"/>
          <p:cNvSpPr/>
          <p:nvPr/>
        </p:nvSpPr>
        <p:spPr>
          <a:xfrm>
            <a:off x="8394192" y="1280160"/>
            <a:ext cx="3108960" cy="566928"/>
          </a:xfrm>
          <a:prstGeom prst="rect">
            <a:avLst/>
          </a:prstGeom>
          <a:noFill/>
          <a:ln/>
        </p:spPr>
        <p:txBody>
          <a:bodyPr wrap="square" lIns="0" tIns="0" rIns="0" bIns="0" rtlCol="0" anchor="ctr"/>
          <a:lstStyle/>
          <a:p>
            <a:pPr indent="0" marL="0">
              <a:buNone/>
            </a:pPr>
            <a:r>
              <a:rPr lang="en-US" sz="1400" b="1" dirty="0">
                <a:solidFill>
                  <a:srgbClr val="E0B89A"/>
                </a:solidFill>
                <a:latin typeface="Arial" pitchFamily="34" charset="0"/>
                <a:ea typeface="Arial" pitchFamily="34" charset="-122"/>
                <a:cs typeface="Arial" pitchFamily="34" charset="-120"/>
              </a:rPr>
              <a:t>WAS DAS</a:t>
            </a:r>
            <a:endParaRPr lang="en-US" sz="1400" dirty="0"/>
          </a:p>
          <a:p>
            <a:pPr indent="0" marL="0">
              <a:buNone/>
            </a:pPr>
            <a:r>
              <a:rPr lang="en-US" sz="1400" b="1" dirty="0">
                <a:solidFill>
                  <a:srgbClr val="E0B89A"/>
                </a:solidFill>
                <a:latin typeface="Arial" pitchFamily="34" charset="0"/>
                <a:ea typeface="Arial" pitchFamily="34" charset="-122"/>
                <a:cs typeface="Arial" pitchFamily="34" charset="-120"/>
              </a:rPr>
              <a:t>GESCHÄFT TRÄGT</a:t>
            </a:r>
            <a:endParaRPr lang="en-US" sz="1400" dirty="0"/>
          </a:p>
        </p:txBody>
      </p:sp>
      <p:sp>
        <p:nvSpPr>
          <p:cNvPr id="19" name="Text 17"/>
          <p:cNvSpPr/>
          <p:nvPr/>
        </p:nvSpPr>
        <p:spPr>
          <a:xfrm>
            <a:off x="8394192" y="1965960"/>
            <a:ext cx="3108960" cy="585216"/>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Diskretion. Ein Leak der Sexualanamnese leert die Zuweiserliste.</a:t>
            </a:r>
            <a:endParaRPr lang="en-US" sz="1300" dirty="0"/>
          </a:p>
        </p:txBody>
      </p:sp>
      <p:sp>
        <p:nvSpPr>
          <p:cNvPr id="20" name="Text 18"/>
          <p:cNvSpPr/>
          <p:nvPr/>
        </p:nvSpPr>
        <p:spPr>
          <a:xfrm>
            <a:off x="8394192" y="2587752"/>
            <a:ext cx="3108960" cy="585216"/>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Nur CE-Medizinprodukte. Kein zweites Geschäft mit Konsumartikeln.</a:t>
            </a:r>
            <a:endParaRPr lang="en-US" sz="1300" dirty="0"/>
          </a:p>
        </p:txBody>
      </p:sp>
      <p:sp>
        <p:nvSpPr>
          <p:cNvPr id="21" name="Text 19"/>
          <p:cNvSpPr/>
          <p:nvPr/>
        </p:nvSpPr>
        <p:spPr>
          <a:xfrm>
            <a:off x="8394192" y="3209544"/>
            <a:ext cx="3108960" cy="585216"/>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Ein Standort. Die Zuweiser kennen das Team persönlich.</a:t>
            </a:r>
            <a:endParaRPr lang="en-US" sz="1300" dirty="0"/>
          </a:p>
        </p:txBody>
      </p:sp>
      <p:sp>
        <p:nvSpPr>
          <p:cNvPr id="22" name="Text 20"/>
          <p:cNvSpPr/>
          <p:nvPr/>
        </p:nvSpPr>
        <p:spPr>
          <a:xfrm>
            <a:off x="8394192" y="3831336"/>
            <a:ext cx="3108960" cy="585216"/>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Die Geräteeinstellung gehört zur Behandlung, nicht zur IT.</a:t>
            </a:r>
            <a:endParaRPr lang="en-US" sz="1300" dirty="0"/>
          </a:p>
        </p:txBody>
      </p:sp>
      <p:sp>
        <p:nvSpPr>
          <p:cNvPr id="23" name="Shape 21"/>
          <p:cNvSpPr/>
          <p:nvPr/>
        </p:nvSpPr>
        <p:spPr>
          <a:xfrm>
            <a:off x="502920" y="4709160"/>
            <a:ext cx="11201400" cy="1600200"/>
          </a:xfrm>
          <a:prstGeom prst="rect">
            <a:avLst/>
          </a:prstGeom>
          <a:solidFill>
            <a:srgbClr val="E4EBE3"/>
          </a:solidFill>
          <a:ln/>
        </p:spPr>
      </p:sp>
      <p:sp>
        <p:nvSpPr>
          <p:cNvPr id="24" name="Text 22"/>
          <p:cNvSpPr/>
          <p:nvPr/>
        </p:nvSpPr>
        <p:spPr>
          <a:xfrm>
            <a:off x="713232" y="4864608"/>
            <a:ext cx="10789920" cy="274320"/>
          </a:xfrm>
          <a:prstGeom prst="rect">
            <a:avLst/>
          </a:prstGeom>
          <a:noFill/>
          <a:ln/>
        </p:spPr>
        <p:txBody>
          <a:bodyPr wrap="square" lIns="0" tIns="0" rIns="0" bIns="0" rtlCol="0" anchor="ctr"/>
          <a:lstStyle/>
          <a:p>
            <a:pPr indent="0" marL="0">
              <a:buNone/>
            </a:pPr>
            <a:r>
              <a:rPr lang="en-US" sz="1300" b="1" dirty="0">
                <a:solidFill>
                  <a:srgbClr val="1B3A32"/>
                </a:solidFill>
                <a:latin typeface="Arial" pitchFamily="34" charset="0"/>
                <a:ea typeface="Arial" pitchFamily="34" charset="-122"/>
                <a:cs typeface="Arial" pitchFamily="34" charset="-120"/>
              </a:rPr>
              <a:t>Brücke zur Informationssicherheit</a:t>
            </a:r>
            <a:endParaRPr lang="en-US" sz="1300" dirty="0"/>
          </a:p>
        </p:txBody>
      </p:sp>
      <p:sp>
        <p:nvSpPr>
          <p:cNvPr id="25" name="Text 23"/>
          <p:cNvSpPr/>
          <p:nvPr/>
        </p:nvSpPr>
        <p:spPr>
          <a:xfrm>
            <a:off x="713232" y="5175504"/>
            <a:ext cx="10789920" cy="960120"/>
          </a:xfrm>
          <a:prstGeom prst="rect">
            <a:avLst/>
          </a:prstGeom>
          <a:noFill/>
          <a:ln/>
        </p:spPr>
        <p:txBody>
          <a:bodyPr wrap="square" lIns="0" tIns="0" rIns="0" bIns="0" rtlCol="0" anchor="ctr"/>
          <a:lstStyle/>
          <a:p>
            <a:pPr indent="0" marL="0">
              <a:buNone/>
            </a:pPr>
            <a:r>
              <a:rPr lang="en-US" sz="1500" dirty="0">
                <a:solidFill>
                  <a:srgbClr val="1C1917"/>
                </a:solidFill>
                <a:latin typeface="Arial" pitchFamily="34" charset="0"/>
                <a:ea typeface="Arial" pitchFamily="34" charset="-122"/>
                <a:cs typeface="Arial" pitchFamily="34" charset="-120"/>
              </a:rPr>
              <a:t>Die Akte ist die Behandlung. Sexualanamnese, Therapieplan und Geräteparameter müssen zusammenpassen und im Haus bleiben. Fällt das Klinikinformationssystem an einem Therapietag aus, stehen 22 Betten. Deshalb ist Informationssicherheit hier keine Stabsstelle neben dem Geschäft, sondern die Bedingung, unter der Zuweiser uns Patienten schicken.</a:t>
            </a:r>
            <a:endParaRPr lang="en-US" sz="1500" dirty="0"/>
          </a:p>
        </p:txBody>
      </p:sp>
      <p:sp>
        <p:nvSpPr>
          <p:cNvPr id="26" name="Text 24"/>
          <p:cNvSpPr/>
          <p:nvPr/>
        </p:nvSpPr>
        <p:spPr>
          <a:xfrm>
            <a:off x="502920" y="6510528"/>
            <a:ext cx="7498080" cy="219456"/>
          </a:xfrm>
          <a:prstGeom prst="rect">
            <a:avLst/>
          </a:prstGeom>
          <a:noFill/>
          <a:ln/>
        </p:spPr>
        <p:txBody>
          <a:bodyPr wrap="square" lIns="0" tIns="0" rIns="0" bIns="0" rtlCol="0" anchor="ctr"/>
          <a:lstStyle/>
          <a:p>
            <a:pPr indent="0" marL="0">
              <a:buNone/>
            </a:pPr>
            <a:r>
              <a:rPr lang="en-US" sz="1100" dirty="0">
                <a:solidFill>
                  <a:srgbClr val="5E6A64"/>
                </a:solidFill>
                <a:latin typeface="Arial" pitchFamily="34" charset="0"/>
                <a:ea typeface="Arial" pitchFamily="34" charset="-122"/>
                <a:cs typeface="Arial" pitchFamily="34" charset="-120"/>
              </a:rPr>
              <a:t>622.760  ·  Gruppe 1  ·  fiktives Unternehmen  ·  Abgabe 03.11.2026</a:t>
            </a:r>
            <a:endParaRPr lang="en-US" sz="1100" dirty="0"/>
          </a:p>
        </p:txBody>
      </p:sp>
      <p:sp>
        <p:nvSpPr>
          <p:cNvPr id="27" name="Text 25"/>
          <p:cNvSpPr/>
          <p:nvPr/>
        </p:nvSpPr>
        <p:spPr>
          <a:xfrm>
            <a:off x="6766560" y="6510528"/>
            <a:ext cx="4937760" cy="219456"/>
          </a:xfrm>
          <a:prstGeom prst="rect">
            <a:avLst/>
          </a:prstGeom>
          <a:noFill/>
          <a:ln/>
        </p:spPr>
        <p:txBody>
          <a:bodyPr wrap="square" lIns="0" tIns="0" rIns="0" bIns="0" rtlCol="0" anchor="ctr"/>
          <a:lstStyle/>
          <a:p>
            <a:pPr algn="r" indent="0" marL="0">
              <a:buNone/>
            </a:pPr>
            <a:r>
              <a:rPr lang="en-US" sz="1100" dirty="0">
                <a:solidFill>
                  <a:srgbClr val="5E6A64"/>
                </a:solidFill>
                <a:latin typeface="Arial" pitchFamily="34" charset="0"/>
                <a:ea typeface="Arial" pitchFamily="34" charset="-122"/>
                <a:cs typeface="Arial" pitchFamily="34" charset="-120"/>
              </a:rPr>
              <a:t>Bleier · Bugelnig · Lugger · Mele · Schmickl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820"/>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A15C38"/>
          </a:solidFill>
          <a:ln/>
        </p:spPr>
      </p:sp>
      <p:sp>
        <p:nvSpPr>
          <p:cNvPr id="3" name="Text 1"/>
          <p:cNvSpPr/>
          <p:nvPr/>
        </p:nvSpPr>
        <p:spPr>
          <a:xfrm>
            <a:off x="502920" y="256032"/>
            <a:ext cx="10972800" cy="219456"/>
          </a:xfrm>
          <a:prstGeom prst="rect">
            <a:avLst/>
          </a:prstGeom>
          <a:noFill/>
          <a:ln/>
        </p:spPr>
        <p:txBody>
          <a:bodyPr wrap="square" lIns="0" tIns="0" rIns="0" bIns="0" rtlCol="0" anchor="ctr"/>
          <a:lstStyle/>
          <a:p>
            <a:pPr indent="0" marL="0">
              <a:buNone/>
            </a:pPr>
            <a:r>
              <a:rPr lang="en-US" sz="1200" b="1" spc="110" kern="0" dirty="0">
                <a:solidFill>
                  <a:srgbClr val="E0B89A"/>
                </a:solidFill>
                <a:latin typeface="Arial" pitchFamily="34" charset="0"/>
                <a:ea typeface="Arial" pitchFamily="34" charset="-122"/>
                <a:cs typeface="Arial" pitchFamily="34" charset="-120"/>
              </a:rPr>
              <a:t>INFORMATIONSSICHERHEITSSTRATEGIE</a:t>
            </a:r>
            <a:endParaRPr lang="en-US" sz="1200" dirty="0"/>
          </a:p>
        </p:txBody>
      </p:sp>
      <p:sp>
        <p:nvSpPr>
          <p:cNvPr id="4" name="Text 2"/>
          <p:cNvSpPr/>
          <p:nvPr/>
        </p:nvSpPr>
        <p:spPr>
          <a:xfrm>
            <a:off x="502920" y="493776"/>
            <a:ext cx="10972800" cy="420624"/>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Gewünschter Zustand</a:t>
            </a:r>
            <a:endParaRPr lang="en-US" sz="2800" dirty="0"/>
          </a:p>
        </p:txBody>
      </p:sp>
      <p:sp>
        <p:nvSpPr>
          <p:cNvPr id="5" name="Text 3"/>
          <p:cNvSpPr/>
          <p:nvPr/>
        </p:nvSpPr>
        <p:spPr>
          <a:xfrm>
            <a:off x="502920" y="1005840"/>
            <a:ext cx="11155680" cy="566928"/>
          </a:xfrm>
          <a:prstGeom prst="rect">
            <a:avLst/>
          </a:prstGeom>
          <a:noFill/>
          <a:ln/>
        </p:spPr>
        <p:txBody>
          <a:bodyPr wrap="square" lIns="0" tIns="0" rIns="0" bIns="0" rtlCol="0" anchor="ctr"/>
          <a:lstStyle/>
          <a:p>
            <a:pPr indent="0" marL="0">
              <a:buNone/>
            </a:pPr>
            <a:r>
              <a:rPr lang="en-US" sz="1600" dirty="0">
                <a:solidFill>
                  <a:srgbClr val="E7EEE9"/>
                </a:solidFill>
                <a:latin typeface="Arial" pitchFamily="34" charset="0"/>
                <a:ea typeface="Arial" pitchFamily="34" charset="-122"/>
                <a:cs typeface="Arial" pitchFamily="34" charset="-120"/>
              </a:rPr>
              <a:t>Sexualanamnesen sieht nur das Behandlungsteam. Therapieplan und Geräteparameter stimmen überein. Ein ausgefallenes System stoppt nicht den ganzen Reha-Tag.</a:t>
            </a:r>
            <a:endParaRPr lang="en-US" sz="1600" dirty="0"/>
          </a:p>
        </p:txBody>
      </p:sp>
      <p:sp>
        <p:nvSpPr>
          <p:cNvPr id="6" name="Shape 4"/>
          <p:cNvSpPr/>
          <p:nvPr/>
        </p:nvSpPr>
        <p:spPr>
          <a:xfrm>
            <a:off x="502920" y="1737360"/>
            <a:ext cx="3639312" cy="2331720"/>
          </a:xfrm>
          <a:prstGeom prst="rect">
            <a:avLst/>
          </a:prstGeom>
          <a:solidFill>
            <a:srgbClr val="1E4036"/>
          </a:solidFill>
          <a:ln/>
        </p:spPr>
      </p:sp>
      <p:sp>
        <p:nvSpPr>
          <p:cNvPr id="7" name="Text 5"/>
          <p:cNvSpPr/>
          <p:nvPr/>
        </p:nvSpPr>
        <p:spPr>
          <a:xfrm>
            <a:off x="667512" y="1865376"/>
            <a:ext cx="457200" cy="329184"/>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43000" y="1883664"/>
            <a:ext cx="278892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Vertraulichkeit</a:t>
            </a:r>
            <a:endParaRPr lang="en-US" sz="1600" dirty="0"/>
          </a:p>
        </p:txBody>
      </p:sp>
      <p:sp>
        <p:nvSpPr>
          <p:cNvPr id="9" name="Text 7"/>
          <p:cNvSpPr/>
          <p:nvPr/>
        </p:nvSpPr>
        <p:spPr>
          <a:xfrm>
            <a:off x="667512" y="2340864"/>
            <a:ext cx="3310128" cy="1508760"/>
          </a:xfrm>
          <a:prstGeom prst="rect">
            <a:avLst/>
          </a:prstGeom>
          <a:noFill/>
          <a:ln/>
        </p:spPr>
        <p:txBody>
          <a:bodyPr wrap="square" lIns="0" tIns="0" rIns="0" bIns="0" rtlCol="0" anchor="ctr"/>
          <a:lstStyle/>
          <a:p>
            <a:pPr indent="0" marL="0">
              <a:buNone/>
            </a:pPr>
            <a:r>
              <a:rPr lang="en-US" sz="1400" dirty="0">
                <a:solidFill>
                  <a:srgbClr val="E7EEE9"/>
                </a:solidFill>
                <a:latin typeface="Arial" pitchFamily="34" charset="0"/>
                <a:ea typeface="Arial" pitchFamily="34" charset="-122"/>
                <a:cs typeface="Arial" pitchFamily="34" charset="-120"/>
              </a:rPr>
              <a:t>Gesundheitsdaten nach Art. 9 DSGVO, besonders die Sexualanamnese. Ein Leak ist ein Existenzrisiko, kein Imagekratzer.</a:t>
            </a:r>
            <a:endParaRPr lang="en-US" sz="1400" dirty="0"/>
          </a:p>
        </p:txBody>
      </p:sp>
      <p:sp>
        <p:nvSpPr>
          <p:cNvPr id="10" name="Shape 8"/>
          <p:cNvSpPr/>
          <p:nvPr/>
        </p:nvSpPr>
        <p:spPr>
          <a:xfrm>
            <a:off x="4297680" y="1737360"/>
            <a:ext cx="3639312" cy="2331720"/>
          </a:xfrm>
          <a:prstGeom prst="rect">
            <a:avLst/>
          </a:prstGeom>
          <a:solidFill>
            <a:srgbClr val="1E4036"/>
          </a:solidFill>
          <a:ln/>
        </p:spPr>
      </p:sp>
      <p:sp>
        <p:nvSpPr>
          <p:cNvPr id="11" name="Text 9"/>
          <p:cNvSpPr/>
          <p:nvPr/>
        </p:nvSpPr>
        <p:spPr>
          <a:xfrm>
            <a:off x="4462272" y="1865376"/>
            <a:ext cx="457200" cy="329184"/>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4937760" y="1883664"/>
            <a:ext cx="278892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Integrität</a:t>
            </a:r>
            <a:endParaRPr lang="en-US" sz="1600" dirty="0"/>
          </a:p>
        </p:txBody>
      </p:sp>
      <p:sp>
        <p:nvSpPr>
          <p:cNvPr id="13" name="Text 11"/>
          <p:cNvSpPr/>
          <p:nvPr/>
        </p:nvSpPr>
        <p:spPr>
          <a:xfrm>
            <a:off x="4462272" y="2340864"/>
            <a:ext cx="3310128" cy="1508760"/>
          </a:xfrm>
          <a:prstGeom prst="rect">
            <a:avLst/>
          </a:prstGeom>
          <a:noFill/>
          <a:ln/>
        </p:spPr>
        <p:txBody>
          <a:bodyPr wrap="square" lIns="0" tIns="0" rIns="0" bIns="0" rtlCol="0" anchor="ctr"/>
          <a:lstStyle/>
          <a:p>
            <a:pPr indent="0" marL="0">
              <a:buNone/>
            </a:pPr>
            <a:r>
              <a:rPr lang="en-US" sz="1400" dirty="0">
                <a:solidFill>
                  <a:srgbClr val="E7EEE9"/>
                </a:solidFill>
                <a:latin typeface="Arial" pitchFamily="34" charset="0"/>
                <a:ea typeface="Arial" pitchFamily="34" charset="-122"/>
                <a:cs typeface="Arial" pitchFamily="34" charset="-120"/>
              </a:rPr>
              <a:t>Therapieplan und Geräteparameter müssen zur Akte passen. Eine falsche Einstellung ist ein Behandlungsfehler.</a:t>
            </a:r>
            <a:endParaRPr lang="en-US" sz="1400" dirty="0"/>
          </a:p>
        </p:txBody>
      </p:sp>
      <p:sp>
        <p:nvSpPr>
          <p:cNvPr id="14" name="Shape 12"/>
          <p:cNvSpPr/>
          <p:nvPr/>
        </p:nvSpPr>
        <p:spPr>
          <a:xfrm>
            <a:off x="8092440" y="1737360"/>
            <a:ext cx="3639312" cy="2331720"/>
          </a:xfrm>
          <a:prstGeom prst="rect">
            <a:avLst/>
          </a:prstGeom>
          <a:solidFill>
            <a:srgbClr val="1E4036"/>
          </a:solidFill>
          <a:ln/>
        </p:spPr>
      </p:sp>
      <p:sp>
        <p:nvSpPr>
          <p:cNvPr id="15" name="Text 13"/>
          <p:cNvSpPr/>
          <p:nvPr/>
        </p:nvSpPr>
        <p:spPr>
          <a:xfrm>
            <a:off x="8257032" y="1865376"/>
            <a:ext cx="457200" cy="329184"/>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8732520" y="1883664"/>
            <a:ext cx="2788920" cy="3291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Verfügbarkeit</a:t>
            </a:r>
            <a:endParaRPr lang="en-US" sz="1600" dirty="0"/>
          </a:p>
        </p:txBody>
      </p:sp>
      <p:sp>
        <p:nvSpPr>
          <p:cNvPr id="17" name="Text 15"/>
          <p:cNvSpPr/>
          <p:nvPr/>
        </p:nvSpPr>
        <p:spPr>
          <a:xfrm>
            <a:off x="8257032" y="2340864"/>
            <a:ext cx="3310128" cy="1508760"/>
          </a:xfrm>
          <a:prstGeom prst="rect">
            <a:avLst/>
          </a:prstGeom>
          <a:noFill/>
          <a:ln/>
        </p:spPr>
        <p:txBody>
          <a:bodyPr wrap="square" lIns="0" tIns="0" rIns="0" bIns="0" rtlCol="0" anchor="ctr"/>
          <a:lstStyle/>
          <a:p>
            <a:pPr indent="0" marL="0">
              <a:buNone/>
            </a:pPr>
            <a:r>
              <a:rPr lang="en-US" sz="1400" dirty="0">
                <a:solidFill>
                  <a:srgbClr val="E7EEE9"/>
                </a:solidFill>
                <a:latin typeface="Arial" pitchFamily="34" charset="0"/>
                <a:ea typeface="Arial" pitchFamily="34" charset="-122"/>
                <a:cs typeface="Arial" pitchFamily="34" charset="-120"/>
              </a:rPr>
              <a:t>KIS und Therapiegeräte in den Therapiezeiten. Komfort-IT darf ausfallen, die Akte nicht.</a:t>
            </a:r>
            <a:endParaRPr lang="en-US" sz="1400" dirty="0"/>
          </a:p>
        </p:txBody>
      </p:sp>
      <p:sp>
        <p:nvSpPr>
          <p:cNvPr id="18" name="Text 16"/>
          <p:cNvSpPr/>
          <p:nvPr/>
        </p:nvSpPr>
        <p:spPr>
          <a:xfrm>
            <a:off x="502920" y="4251960"/>
            <a:ext cx="3657600" cy="237744"/>
          </a:xfrm>
          <a:prstGeom prst="rect">
            <a:avLst/>
          </a:prstGeom>
          <a:noFill/>
          <a:ln/>
        </p:spPr>
        <p:txBody>
          <a:bodyPr wrap="square" lIns="0" tIns="0" rIns="0" bIns="0" rtlCol="0" anchor="ctr"/>
          <a:lstStyle/>
          <a:p>
            <a:pPr indent="0" marL="0">
              <a:buNone/>
            </a:pPr>
            <a:r>
              <a:rPr lang="en-US" sz="1200" b="1" spc="110" kern="0" dirty="0">
                <a:solidFill>
                  <a:srgbClr val="E0B89A"/>
                </a:solidFill>
                <a:latin typeface="Arial" pitchFamily="34" charset="0"/>
                <a:ea typeface="Arial" pitchFamily="34" charset="-122"/>
                <a:cs typeface="Arial" pitchFamily="34" charset="-120"/>
              </a:rPr>
              <a:t>RISIKOBEREITSCHAFT</a:t>
            </a:r>
            <a:endParaRPr lang="en-US" sz="1200" dirty="0"/>
          </a:p>
        </p:txBody>
      </p:sp>
      <p:sp>
        <p:nvSpPr>
          <p:cNvPr id="19" name="Text 17"/>
          <p:cNvSpPr/>
          <p:nvPr/>
        </p:nvSpPr>
        <p:spPr>
          <a:xfrm>
            <a:off x="502920" y="4535424"/>
            <a:ext cx="11155680" cy="82296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Niedrig bei Akte, Sexualanamnese, Geräteparametern und Abrechnung. Mittel bei Website, Patienten-WLAN und Druckern. Die Geschäftsführung trägt die Strategie. Die QM-Leitung ist IS-Beauftragte, nicht in Vollzeit. Asset Owner sind Medizin, Pflege und Verwaltung.</a:t>
            </a:r>
            <a:endParaRPr lang="en-US" sz="1500" dirty="0"/>
          </a:p>
        </p:txBody>
      </p:sp>
      <p:sp>
        <p:nvSpPr>
          <p:cNvPr id="20" name="Text 18"/>
          <p:cNvSpPr/>
          <p:nvPr/>
        </p:nvSpPr>
        <p:spPr>
          <a:xfrm>
            <a:off x="502920" y="5440680"/>
            <a:ext cx="11155680" cy="457200"/>
          </a:xfrm>
          <a:prstGeom prst="rect">
            <a:avLst/>
          </a:prstGeom>
          <a:noFill/>
          <a:ln/>
        </p:spPr>
        <p:txBody>
          <a:bodyPr wrap="square" lIns="0" tIns="0" rIns="0" bIns="0" rtlCol="0" anchor="ctr"/>
          <a:lstStyle/>
          <a:p>
            <a:pPr indent="0" marL="0">
              <a:buNone/>
            </a:pPr>
            <a:r>
              <a:rPr lang="en-US" sz="1300" i="1" dirty="0">
                <a:solidFill>
                  <a:srgbClr val="C9D4CE"/>
                </a:solidFill>
                <a:latin typeface="Arial" pitchFamily="34" charset="0"/>
                <a:ea typeface="Arial" pitchFamily="34" charset="-122"/>
                <a:cs typeface="Arial" pitchFamily="34" charset="-120"/>
              </a:rPr>
              <a:t>Begriffe aus der VO: Strategie als Muster von Entscheidungen, Zielzustand aus Geschäfts- und Sicherheitsattributen, Governance bei der Geschäftsleitung.</a:t>
            </a:r>
            <a:endParaRPr lang="en-US" sz="1300" dirty="0"/>
          </a:p>
        </p:txBody>
      </p:sp>
      <p:sp>
        <p:nvSpPr>
          <p:cNvPr id="21" name="Text 19"/>
          <p:cNvSpPr/>
          <p:nvPr/>
        </p:nvSpPr>
        <p:spPr>
          <a:xfrm>
            <a:off x="502920" y="6510528"/>
            <a:ext cx="7498080" cy="219456"/>
          </a:xfrm>
          <a:prstGeom prst="rect">
            <a:avLst/>
          </a:prstGeom>
          <a:noFill/>
          <a:ln/>
        </p:spPr>
        <p:txBody>
          <a:bodyPr wrap="square" lIns="0" tIns="0" rIns="0" bIns="0" rtlCol="0" anchor="ctr"/>
          <a:lstStyle/>
          <a:p>
            <a:pPr indent="0" marL="0">
              <a:buNone/>
            </a:pPr>
            <a:r>
              <a:rPr lang="en-US" sz="1100" dirty="0">
                <a:solidFill>
                  <a:srgbClr val="C9D4CE"/>
                </a:solidFill>
                <a:latin typeface="Arial" pitchFamily="34" charset="0"/>
                <a:ea typeface="Arial" pitchFamily="34" charset="-122"/>
                <a:cs typeface="Arial" pitchFamily="34" charset="-120"/>
              </a:rPr>
              <a:t>622.760  ·  Gruppe 1  ·  fiktives Unternehmen  ·  Abgabe 03.11.2026</a:t>
            </a:r>
            <a:endParaRPr lang="en-US" sz="1100" dirty="0"/>
          </a:p>
        </p:txBody>
      </p:sp>
      <p:sp>
        <p:nvSpPr>
          <p:cNvPr id="22" name="Text 20"/>
          <p:cNvSpPr/>
          <p:nvPr/>
        </p:nvSpPr>
        <p:spPr>
          <a:xfrm>
            <a:off x="6766560" y="6510528"/>
            <a:ext cx="4937760" cy="219456"/>
          </a:xfrm>
          <a:prstGeom prst="rect">
            <a:avLst/>
          </a:prstGeom>
          <a:noFill/>
          <a:ln/>
        </p:spPr>
        <p:txBody>
          <a:bodyPr wrap="square" lIns="0" tIns="0" rIns="0" bIns="0" rtlCol="0" anchor="ctr"/>
          <a:lstStyle/>
          <a:p>
            <a:pPr algn="r" indent="0" marL="0">
              <a:buNone/>
            </a:pPr>
            <a:r>
              <a:rPr lang="en-US" sz="1100" dirty="0">
                <a:solidFill>
                  <a:srgbClr val="C9D4CE"/>
                </a:solidFill>
                <a:latin typeface="Arial" pitchFamily="34" charset="0"/>
                <a:ea typeface="Arial" pitchFamily="34" charset="-122"/>
                <a:cs typeface="Arial" pitchFamily="34" charset="-120"/>
              </a:rPr>
              <a:t>Bleier · Bugelnig · Lugger · Mele · Schmickl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8"/>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A15C38"/>
          </a:solidFill>
          <a:ln/>
        </p:spPr>
      </p:sp>
      <p:sp>
        <p:nvSpPr>
          <p:cNvPr id="3" name="Text 1"/>
          <p:cNvSpPr/>
          <p:nvPr/>
        </p:nvSpPr>
        <p:spPr>
          <a:xfrm>
            <a:off x="502920" y="256032"/>
            <a:ext cx="7315200" cy="219456"/>
          </a:xfrm>
          <a:prstGeom prst="rect">
            <a:avLst/>
          </a:prstGeom>
          <a:noFill/>
          <a:ln/>
        </p:spPr>
        <p:txBody>
          <a:bodyPr wrap="square" lIns="0" tIns="0" rIns="0" bIns="0" rtlCol="0" anchor="ctr"/>
          <a:lstStyle/>
          <a:p>
            <a:pPr indent="0" marL="0">
              <a:buNone/>
            </a:pPr>
            <a:r>
              <a:rPr lang="en-US" sz="1200" b="1" spc="110" kern="0" dirty="0">
                <a:solidFill>
                  <a:srgbClr val="A15C38"/>
                </a:solidFill>
                <a:latin typeface="Arial" pitchFamily="34" charset="0"/>
                <a:ea typeface="Arial" pitchFamily="34" charset="-122"/>
                <a:cs typeface="Arial" pitchFamily="34" charset="-120"/>
              </a:rPr>
              <a:t>AKTIONSPLAN, 12 MONATE</a:t>
            </a:r>
            <a:endParaRPr lang="en-US" sz="1200" dirty="0"/>
          </a:p>
        </p:txBody>
      </p:sp>
      <p:sp>
        <p:nvSpPr>
          <p:cNvPr id="4" name="Text 2"/>
          <p:cNvSpPr/>
          <p:nvPr/>
        </p:nvSpPr>
        <p:spPr>
          <a:xfrm>
            <a:off x="502920" y="493776"/>
            <a:ext cx="10972800" cy="384048"/>
          </a:xfrm>
          <a:prstGeom prst="rect">
            <a:avLst/>
          </a:prstGeom>
          <a:noFill/>
          <a:ln/>
        </p:spPr>
        <p:txBody>
          <a:bodyPr wrap="square" lIns="0" tIns="0" rIns="0" bIns="0" rtlCol="0" anchor="ctr"/>
          <a:lstStyle/>
          <a:p>
            <a:pPr indent="0" marL="0">
              <a:buNone/>
            </a:pPr>
            <a:r>
              <a:rPr lang="en-US" sz="2600" b="1" dirty="0">
                <a:solidFill>
                  <a:srgbClr val="1C1917"/>
                </a:solidFill>
                <a:latin typeface="Arial" pitchFamily="34" charset="0"/>
                <a:ea typeface="Arial" pitchFamily="34" charset="-122"/>
                <a:cs typeface="Arial" pitchFamily="34" charset="-120"/>
              </a:rPr>
              <a:t>Was die Strategie im ersten Jahr auslöst</a:t>
            </a:r>
            <a:endParaRPr lang="en-US" sz="2600" dirty="0"/>
          </a:p>
        </p:txBody>
      </p:sp>
      <p:sp>
        <p:nvSpPr>
          <p:cNvPr id="5" name="Shape 3"/>
          <p:cNvSpPr/>
          <p:nvPr/>
        </p:nvSpPr>
        <p:spPr>
          <a:xfrm>
            <a:off x="502920" y="1024128"/>
            <a:ext cx="6903720" cy="932688"/>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6" name="Shape 4"/>
          <p:cNvSpPr/>
          <p:nvPr/>
        </p:nvSpPr>
        <p:spPr>
          <a:xfrm>
            <a:off x="502920" y="1024128"/>
            <a:ext cx="73152" cy="932688"/>
          </a:xfrm>
          <a:prstGeom prst="rect">
            <a:avLst/>
          </a:prstGeom>
          <a:solidFill>
            <a:srgbClr val="A15C38"/>
          </a:solidFill>
          <a:ln/>
        </p:spPr>
      </p:sp>
      <p:sp>
        <p:nvSpPr>
          <p:cNvPr id="7" name="Text 5"/>
          <p:cNvSpPr/>
          <p:nvPr/>
        </p:nvSpPr>
        <p:spPr>
          <a:xfrm>
            <a:off x="713232" y="1280160"/>
            <a:ext cx="365760" cy="36576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70432" y="1115568"/>
            <a:ext cx="5989320" cy="256032"/>
          </a:xfrm>
          <a:prstGeom prst="rect">
            <a:avLst/>
          </a:prstGeom>
          <a:noFill/>
          <a:ln/>
        </p:spPr>
        <p:txBody>
          <a:bodyPr wrap="square" lIns="0" tIns="0" rIns="0" bIns="0" rtlCol="0" anchor="ctr"/>
          <a:lstStyle/>
          <a:p>
            <a:pPr indent="0" marL="0">
              <a:buNone/>
            </a:pPr>
            <a:r>
              <a:rPr lang="en-US" sz="1500" b="1" dirty="0">
                <a:solidFill>
                  <a:srgbClr val="1C1917"/>
                </a:solidFill>
                <a:latin typeface="Arial" pitchFamily="34" charset="0"/>
                <a:ea typeface="Arial" pitchFamily="34" charset="-122"/>
                <a:cs typeface="Arial" pitchFamily="34" charset="-120"/>
              </a:rPr>
              <a:t>Gap-Analyse</a:t>
            </a:r>
            <a:endParaRPr lang="en-US" sz="1500" dirty="0"/>
          </a:p>
        </p:txBody>
      </p:sp>
      <p:sp>
        <p:nvSpPr>
          <p:cNvPr id="9" name="Text 7"/>
          <p:cNvSpPr/>
          <p:nvPr/>
        </p:nvSpPr>
        <p:spPr>
          <a:xfrm>
            <a:off x="1170432" y="1389888"/>
            <a:ext cx="5989320" cy="475488"/>
          </a:xfrm>
          <a:prstGeom prst="rect">
            <a:avLst/>
          </a:prstGeom>
          <a:noFill/>
          <a:ln/>
        </p:spPr>
        <p:txBody>
          <a:bodyPr wrap="square" lIns="0" tIns="0" rIns="0" bIns="0" rtlCol="0" anchor="ctr"/>
          <a:lstStyle/>
          <a:p>
            <a:pPr indent="0" marL="0">
              <a:buNone/>
            </a:pPr>
            <a:r>
              <a:rPr lang="en-US" sz="1300" dirty="0">
                <a:solidFill>
                  <a:srgbClr val="3F4744"/>
                </a:solidFill>
                <a:latin typeface="Arial" pitchFamily="34" charset="0"/>
                <a:ea typeface="Arial" pitchFamily="34" charset="-122"/>
                <a:cs typeface="Arial" pitchFamily="34" charset="-120"/>
              </a:rPr>
              <a:t>Ist-Zugriff, Netze und Verträge gegen den Zielzustand legen. Daraus der Plan, nicht aus einem Katalog.</a:t>
            </a:r>
            <a:endParaRPr lang="en-US" sz="1300" dirty="0"/>
          </a:p>
        </p:txBody>
      </p:sp>
      <p:sp>
        <p:nvSpPr>
          <p:cNvPr id="10" name="Shape 8"/>
          <p:cNvSpPr/>
          <p:nvPr/>
        </p:nvSpPr>
        <p:spPr>
          <a:xfrm>
            <a:off x="502920" y="2048256"/>
            <a:ext cx="6903720" cy="932688"/>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11" name="Shape 9"/>
          <p:cNvSpPr/>
          <p:nvPr/>
        </p:nvSpPr>
        <p:spPr>
          <a:xfrm>
            <a:off x="502920" y="2048256"/>
            <a:ext cx="73152" cy="932688"/>
          </a:xfrm>
          <a:prstGeom prst="rect">
            <a:avLst/>
          </a:prstGeom>
          <a:solidFill>
            <a:srgbClr val="A15C38"/>
          </a:solidFill>
          <a:ln/>
        </p:spPr>
      </p:sp>
      <p:sp>
        <p:nvSpPr>
          <p:cNvPr id="12" name="Text 10"/>
          <p:cNvSpPr/>
          <p:nvPr/>
        </p:nvSpPr>
        <p:spPr>
          <a:xfrm>
            <a:off x="713232" y="2304288"/>
            <a:ext cx="365760" cy="36576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1170432" y="2139696"/>
            <a:ext cx="5989320" cy="256032"/>
          </a:xfrm>
          <a:prstGeom prst="rect">
            <a:avLst/>
          </a:prstGeom>
          <a:noFill/>
          <a:ln/>
        </p:spPr>
        <p:txBody>
          <a:bodyPr wrap="square" lIns="0" tIns="0" rIns="0" bIns="0" rtlCol="0" anchor="ctr"/>
          <a:lstStyle/>
          <a:p>
            <a:pPr indent="0" marL="0">
              <a:buNone/>
            </a:pPr>
            <a:r>
              <a:rPr lang="en-US" sz="1500" b="1" dirty="0">
                <a:solidFill>
                  <a:srgbClr val="1C1917"/>
                </a:solidFill>
                <a:latin typeface="Arial" pitchFamily="34" charset="0"/>
                <a:ea typeface="Arial" pitchFamily="34" charset="-122"/>
                <a:cs typeface="Arial" pitchFamily="34" charset="-120"/>
              </a:rPr>
              <a:t>Policy</a:t>
            </a:r>
            <a:endParaRPr lang="en-US" sz="1500" dirty="0"/>
          </a:p>
        </p:txBody>
      </p:sp>
      <p:sp>
        <p:nvSpPr>
          <p:cNvPr id="14" name="Text 12"/>
          <p:cNvSpPr/>
          <p:nvPr/>
        </p:nvSpPr>
        <p:spPr>
          <a:xfrm>
            <a:off x="1170432" y="2414016"/>
            <a:ext cx="5989320" cy="475488"/>
          </a:xfrm>
          <a:prstGeom prst="rect">
            <a:avLst/>
          </a:prstGeom>
          <a:noFill/>
          <a:ln/>
        </p:spPr>
        <p:txBody>
          <a:bodyPr wrap="square" lIns="0" tIns="0" rIns="0" bIns="0" rtlCol="0" anchor="ctr"/>
          <a:lstStyle/>
          <a:p>
            <a:pPr indent="0" marL="0">
              <a:buNone/>
            </a:pPr>
            <a:r>
              <a:rPr lang="en-US" sz="1300" dirty="0">
                <a:solidFill>
                  <a:srgbClr val="3F4744"/>
                </a:solidFill>
                <a:latin typeface="Arial" pitchFamily="34" charset="0"/>
                <a:ea typeface="Arial" pitchFamily="34" charset="-122"/>
                <a:cs typeface="Arial" pitchFamily="34" charset="-120"/>
              </a:rPr>
              <a:t>Zugriff nur bei Behandlungserfordernis. Keine Befunde in privaten Messengern.</a:t>
            </a:r>
            <a:endParaRPr lang="en-US" sz="1300" dirty="0"/>
          </a:p>
        </p:txBody>
      </p:sp>
      <p:sp>
        <p:nvSpPr>
          <p:cNvPr id="15" name="Shape 13"/>
          <p:cNvSpPr/>
          <p:nvPr/>
        </p:nvSpPr>
        <p:spPr>
          <a:xfrm>
            <a:off x="502920" y="3072384"/>
            <a:ext cx="6903720" cy="932688"/>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16" name="Shape 14"/>
          <p:cNvSpPr/>
          <p:nvPr/>
        </p:nvSpPr>
        <p:spPr>
          <a:xfrm>
            <a:off x="502920" y="3072384"/>
            <a:ext cx="73152" cy="932688"/>
          </a:xfrm>
          <a:prstGeom prst="rect">
            <a:avLst/>
          </a:prstGeom>
          <a:solidFill>
            <a:srgbClr val="A15C38"/>
          </a:solidFill>
          <a:ln/>
        </p:spPr>
      </p:sp>
      <p:sp>
        <p:nvSpPr>
          <p:cNvPr id="17" name="Text 15"/>
          <p:cNvSpPr/>
          <p:nvPr/>
        </p:nvSpPr>
        <p:spPr>
          <a:xfrm>
            <a:off x="713232" y="3328416"/>
            <a:ext cx="365760" cy="36576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170432" y="3163824"/>
            <a:ext cx="5989320" cy="256032"/>
          </a:xfrm>
          <a:prstGeom prst="rect">
            <a:avLst/>
          </a:prstGeom>
          <a:noFill/>
          <a:ln/>
        </p:spPr>
        <p:txBody>
          <a:bodyPr wrap="square" lIns="0" tIns="0" rIns="0" bIns="0" rtlCol="0" anchor="ctr"/>
          <a:lstStyle/>
          <a:p>
            <a:pPr indent="0" marL="0">
              <a:buNone/>
            </a:pPr>
            <a:r>
              <a:rPr lang="en-US" sz="1500" b="1" dirty="0">
                <a:solidFill>
                  <a:srgbClr val="1C1917"/>
                </a:solidFill>
                <a:latin typeface="Arial" pitchFamily="34" charset="0"/>
                <a:ea typeface="Arial" pitchFamily="34" charset="-122"/>
                <a:cs typeface="Arial" pitchFamily="34" charset="-120"/>
              </a:rPr>
              <a:t>Netze trennen</a:t>
            </a:r>
            <a:endParaRPr lang="en-US" sz="1500" dirty="0"/>
          </a:p>
        </p:txBody>
      </p:sp>
      <p:sp>
        <p:nvSpPr>
          <p:cNvPr id="19" name="Text 17"/>
          <p:cNvSpPr/>
          <p:nvPr/>
        </p:nvSpPr>
        <p:spPr>
          <a:xfrm>
            <a:off x="1170432" y="3438144"/>
            <a:ext cx="5989320" cy="475488"/>
          </a:xfrm>
          <a:prstGeom prst="rect">
            <a:avLst/>
          </a:prstGeom>
          <a:noFill/>
          <a:ln/>
        </p:spPr>
        <p:txBody>
          <a:bodyPr wrap="square" lIns="0" tIns="0" rIns="0" bIns="0" rtlCol="0" anchor="ctr"/>
          <a:lstStyle/>
          <a:p>
            <a:pPr indent="0" marL="0">
              <a:buNone/>
            </a:pPr>
            <a:r>
              <a:rPr lang="en-US" sz="1300" dirty="0">
                <a:solidFill>
                  <a:srgbClr val="3F4744"/>
                </a:solidFill>
                <a:latin typeface="Arial" pitchFamily="34" charset="0"/>
                <a:ea typeface="Arial" pitchFamily="34" charset="-122"/>
                <a:cs typeface="Arial" pitchFamily="34" charset="-120"/>
              </a:rPr>
              <a:t>Kliniknetz, Patienten-WLAN, Geräte. Drei Netze, eine Regel.</a:t>
            </a:r>
            <a:endParaRPr lang="en-US" sz="1300" dirty="0"/>
          </a:p>
        </p:txBody>
      </p:sp>
      <p:sp>
        <p:nvSpPr>
          <p:cNvPr id="20" name="Shape 18"/>
          <p:cNvSpPr/>
          <p:nvPr/>
        </p:nvSpPr>
        <p:spPr>
          <a:xfrm>
            <a:off x="502920" y="4096512"/>
            <a:ext cx="6903720" cy="932688"/>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21" name="Shape 19"/>
          <p:cNvSpPr/>
          <p:nvPr/>
        </p:nvSpPr>
        <p:spPr>
          <a:xfrm>
            <a:off x="502920" y="4096512"/>
            <a:ext cx="73152" cy="932688"/>
          </a:xfrm>
          <a:prstGeom prst="rect">
            <a:avLst/>
          </a:prstGeom>
          <a:solidFill>
            <a:srgbClr val="A15C38"/>
          </a:solidFill>
          <a:ln/>
        </p:spPr>
      </p:sp>
      <p:sp>
        <p:nvSpPr>
          <p:cNvPr id="22" name="Text 20"/>
          <p:cNvSpPr/>
          <p:nvPr/>
        </p:nvSpPr>
        <p:spPr>
          <a:xfrm>
            <a:off x="713232" y="4352544"/>
            <a:ext cx="365760" cy="365760"/>
          </a:xfrm>
          <a:prstGeom prst="rect">
            <a:avLst/>
          </a:prstGeom>
          <a:noFill/>
          <a:ln/>
        </p:spPr>
        <p:txBody>
          <a:bodyPr wrap="square" lIns="0" tIns="0" rIns="0" bIns="0" rtlCol="0" anchor="ctr"/>
          <a:lstStyle/>
          <a:p>
            <a:pPr indent="0" marL="0">
              <a:buNone/>
            </a:pPr>
            <a:r>
              <a:rPr lang="en-US" sz="1800" b="1" dirty="0">
                <a:solidFill>
                  <a:srgbClr val="A15C38"/>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1170432" y="4187952"/>
            <a:ext cx="5989320" cy="256032"/>
          </a:xfrm>
          <a:prstGeom prst="rect">
            <a:avLst/>
          </a:prstGeom>
          <a:noFill/>
          <a:ln/>
        </p:spPr>
        <p:txBody>
          <a:bodyPr wrap="square" lIns="0" tIns="0" rIns="0" bIns="0" rtlCol="0" anchor="ctr"/>
          <a:lstStyle/>
          <a:p>
            <a:pPr indent="0" marL="0">
              <a:buNone/>
            </a:pPr>
            <a:r>
              <a:rPr lang="en-US" sz="1500" b="1" dirty="0">
                <a:solidFill>
                  <a:srgbClr val="1C1917"/>
                </a:solidFill>
                <a:latin typeface="Arial" pitchFamily="34" charset="0"/>
                <a:ea typeface="Arial" pitchFamily="34" charset="-122"/>
                <a:cs typeface="Arial" pitchFamily="34" charset="-120"/>
              </a:rPr>
              <a:t>Schulung und Verträge</a:t>
            </a:r>
            <a:endParaRPr lang="en-US" sz="1500" dirty="0"/>
          </a:p>
        </p:txBody>
      </p:sp>
      <p:sp>
        <p:nvSpPr>
          <p:cNvPr id="24" name="Text 22"/>
          <p:cNvSpPr/>
          <p:nvPr/>
        </p:nvSpPr>
        <p:spPr>
          <a:xfrm>
            <a:off x="1170432" y="4462272"/>
            <a:ext cx="5989320" cy="475488"/>
          </a:xfrm>
          <a:prstGeom prst="rect">
            <a:avLst/>
          </a:prstGeom>
          <a:noFill/>
          <a:ln/>
        </p:spPr>
        <p:txBody>
          <a:bodyPr wrap="square" lIns="0" tIns="0" rIns="0" bIns="0" rtlCol="0" anchor="ctr"/>
          <a:lstStyle/>
          <a:p>
            <a:pPr indent="0" marL="0">
              <a:buNone/>
            </a:pPr>
            <a:r>
              <a:rPr lang="en-US" sz="1300" dirty="0">
                <a:solidFill>
                  <a:srgbClr val="3F4744"/>
                </a:solidFill>
                <a:latin typeface="Arial" pitchFamily="34" charset="0"/>
                <a:ea typeface="Arial" pitchFamily="34" charset="-122"/>
                <a:cs typeface="Arial" pitchFamily="34" charset="-120"/>
              </a:rPr>
              <a:t>Schulung vor dem ersten Zugriff, auch für Aushilfen. KIS-Betreiber und Gerätehersteller mit Exit, falls der Lieferant ausfällt.</a:t>
            </a:r>
            <a:endParaRPr lang="en-US" sz="1300" dirty="0"/>
          </a:p>
        </p:txBody>
      </p:sp>
      <p:sp>
        <p:nvSpPr>
          <p:cNvPr id="25" name="Shape 23"/>
          <p:cNvSpPr/>
          <p:nvPr/>
        </p:nvSpPr>
        <p:spPr>
          <a:xfrm>
            <a:off x="7589520" y="1024128"/>
            <a:ext cx="4114800" cy="1261872"/>
          </a:xfrm>
          <a:prstGeom prst="rect">
            <a:avLst/>
          </a:prstGeom>
          <a:solidFill>
            <a:srgbClr val="1B3A32"/>
          </a:solidFill>
          <a:ln/>
          <a:effectLst>
            <a:outerShdw sx="100000" sy="100000" kx="0" ky="0" algn="bl" rotWithShape="0" blurRad="127000" dist="25400" dir="8100000">
              <a:srgbClr val="1C1917">
                <a:alpha val="8000"/>
              </a:srgbClr>
            </a:outerShdw>
          </a:effectLst>
        </p:spPr>
      </p:sp>
      <p:sp>
        <p:nvSpPr>
          <p:cNvPr id="26" name="Text 24"/>
          <p:cNvSpPr/>
          <p:nvPr/>
        </p:nvSpPr>
        <p:spPr>
          <a:xfrm>
            <a:off x="7754112" y="1115568"/>
            <a:ext cx="3785616" cy="256032"/>
          </a:xfrm>
          <a:prstGeom prst="rect">
            <a:avLst/>
          </a:prstGeom>
          <a:noFill/>
          <a:ln/>
        </p:spPr>
        <p:txBody>
          <a:bodyPr wrap="square" lIns="0" tIns="0" rIns="0" bIns="0" rtlCol="0" anchor="ctr"/>
          <a:lstStyle/>
          <a:p>
            <a:pPr indent="0" marL="0">
              <a:buNone/>
            </a:pPr>
            <a:r>
              <a:rPr lang="en-US" sz="1300" b="1" dirty="0">
                <a:solidFill>
                  <a:srgbClr val="E0B89A"/>
                </a:solidFill>
                <a:latin typeface="Arial" pitchFamily="34" charset="0"/>
                <a:ea typeface="Arial" pitchFamily="34" charset="-122"/>
                <a:cs typeface="Arial" pitchFamily="34" charset="-120"/>
              </a:rPr>
              <a:t>KGI</a:t>
            </a:r>
            <a:endParaRPr lang="en-US" sz="1300" dirty="0"/>
          </a:p>
        </p:txBody>
      </p:sp>
      <p:sp>
        <p:nvSpPr>
          <p:cNvPr id="27" name="Text 25"/>
          <p:cNvSpPr/>
          <p:nvPr/>
        </p:nvSpPr>
        <p:spPr>
          <a:xfrm>
            <a:off x="7754112" y="1389888"/>
            <a:ext cx="3785616" cy="786384"/>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Kein meldepflichtiger Vorfall mit Sexualgesundheitsdaten. Kein ungeplanter KIS-Ausfall über 4 Stunden an einem Therapietag.</a:t>
            </a:r>
            <a:endParaRPr lang="en-US" sz="1200" dirty="0"/>
          </a:p>
        </p:txBody>
      </p:sp>
      <p:sp>
        <p:nvSpPr>
          <p:cNvPr id="28" name="Shape 26"/>
          <p:cNvSpPr/>
          <p:nvPr/>
        </p:nvSpPr>
        <p:spPr>
          <a:xfrm>
            <a:off x="7589520" y="2395728"/>
            <a:ext cx="4114800" cy="1261872"/>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29" name="Text 27"/>
          <p:cNvSpPr/>
          <p:nvPr/>
        </p:nvSpPr>
        <p:spPr>
          <a:xfrm>
            <a:off x="7754112" y="2487168"/>
            <a:ext cx="3785616" cy="256032"/>
          </a:xfrm>
          <a:prstGeom prst="rect">
            <a:avLst/>
          </a:prstGeom>
          <a:noFill/>
          <a:ln/>
        </p:spPr>
        <p:txBody>
          <a:bodyPr wrap="square" lIns="0" tIns="0" rIns="0" bIns="0" rtlCol="0" anchor="ctr"/>
          <a:lstStyle/>
          <a:p>
            <a:pPr indent="0" marL="0">
              <a:buNone/>
            </a:pPr>
            <a:r>
              <a:rPr lang="en-US" sz="1300" b="1" dirty="0">
                <a:solidFill>
                  <a:srgbClr val="A15C38"/>
                </a:solidFill>
                <a:latin typeface="Arial" pitchFamily="34" charset="0"/>
                <a:ea typeface="Arial" pitchFamily="34" charset="-122"/>
                <a:cs typeface="Arial" pitchFamily="34" charset="-120"/>
              </a:rPr>
              <a:t>CSF</a:t>
            </a:r>
            <a:endParaRPr lang="en-US" sz="1300" dirty="0"/>
          </a:p>
        </p:txBody>
      </p:sp>
      <p:sp>
        <p:nvSpPr>
          <p:cNvPr id="30" name="Text 28"/>
          <p:cNvSpPr/>
          <p:nvPr/>
        </p:nvSpPr>
        <p:spPr>
          <a:xfrm>
            <a:off x="7754112" y="2761488"/>
            <a:ext cx="3785616" cy="786384"/>
          </a:xfrm>
          <a:prstGeom prst="rect">
            <a:avLst/>
          </a:prstGeom>
          <a:noFill/>
          <a:ln/>
        </p:spPr>
        <p:txBody>
          <a:bodyPr wrap="square" lIns="0" tIns="0" rIns="0" bIns="0" rtlCol="0" anchor="ctr"/>
          <a:lstStyle/>
          <a:p>
            <a:pPr indent="0" marL="0">
              <a:buNone/>
            </a:pPr>
            <a:r>
              <a:rPr lang="en-US" sz="1200" dirty="0">
                <a:solidFill>
                  <a:srgbClr val="1C1917"/>
                </a:solidFill>
                <a:latin typeface="Arial" pitchFamily="34" charset="0"/>
                <a:ea typeface="Arial" pitchFamily="34" charset="-122"/>
                <a:cs typeface="Arial" pitchFamily="34" charset="-120"/>
              </a:rPr>
              <a:t>Benannte Asset Owner. Personal geschult, bevor es die Akte sieht. Drei getrennte Netze stehen.</a:t>
            </a:r>
            <a:endParaRPr lang="en-US" sz="1200" dirty="0"/>
          </a:p>
        </p:txBody>
      </p:sp>
      <p:sp>
        <p:nvSpPr>
          <p:cNvPr id="31" name="Shape 29"/>
          <p:cNvSpPr/>
          <p:nvPr/>
        </p:nvSpPr>
        <p:spPr>
          <a:xfrm>
            <a:off x="7589520" y="3767328"/>
            <a:ext cx="4114800" cy="1261872"/>
          </a:xfrm>
          <a:prstGeom prst="rect">
            <a:avLst/>
          </a:prstGeom>
          <a:solidFill>
            <a:srgbClr val="FFFFFF"/>
          </a:solidFill>
          <a:ln/>
          <a:effectLst>
            <a:outerShdw sx="100000" sy="100000" kx="0" ky="0" algn="bl" rotWithShape="0" blurRad="127000" dist="25400" dir="8100000">
              <a:srgbClr val="1C1917">
                <a:alpha val="8000"/>
              </a:srgbClr>
            </a:outerShdw>
          </a:effectLst>
        </p:spPr>
      </p:sp>
      <p:sp>
        <p:nvSpPr>
          <p:cNvPr id="32" name="Text 30"/>
          <p:cNvSpPr/>
          <p:nvPr/>
        </p:nvSpPr>
        <p:spPr>
          <a:xfrm>
            <a:off x="7754112" y="3858768"/>
            <a:ext cx="3785616" cy="256032"/>
          </a:xfrm>
          <a:prstGeom prst="rect">
            <a:avLst/>
          </a:prstGeom>
          <a:noFill/>
          <a:ln/>
        </p:spPr>
        <p:txBody>
          <a:bodyPr wrap="square" lIns="0" tIns="0" rIns="0" bIns="0" rtlCol="0" anchor="ctr"/>
          <a:lstStyle/>
          <a:p>
            <a:pPr indent="0" marL="0">
              <a:buNone/>
            </a:pPr>
            <a:r>
              <a:rPr lang="en-US" sz="1300" b="1" dirty="0">
                <a:solidFill>
                  <a:srgbClr val="A15C38"/>
                </a:solidFill>
                <a:latin typeface="Arial" pitchFamily="34" charset="0"/>
                <a:ea typeface="Arial" pitchFamily="34" charset="-122"/>
                <a:cs typeface="Arial" pitchFamily="34" charset="-120"/>
              </a:rPr>
              <a:t>KPI</a:t>
            </a:r>
            <a:endParaRPr lang="en-US" sz="1300" dirty="0"/>
          </a:p>
        </p:txBody>
      </p:sp>
      <p:sp>
        <p:nvSpPr>
          <p:cNvPr id="33" name="Text 31"/>
          <p:cNvSpPr/>
          <p:nvPr/>
        </p:nvSpPr>
        <p:spPr>
          <a:xfrm>
            <a:off x="7754112" y="4133088"/>
            <a:ext cx="3785616" cy="786384"/>
          </a:xfrm>
          <a:prstGeom prst="rect">
            <a:avLst/>
          </a:prstGeom>
          <a:noFill/>
          <a:ln/>
        </p:spPr>
        <p:txBody>
          <a:bodyPr wrap="square" lIns="0" tIns="0" rIns="0" bIns="0" rtlCol="0" anchor="ctr"/>
          <a:lstStyle/>
          <a:p>
            <a:pPr indent="0" marL="0">
              <a:buNone/>
            </a:pPr>
            <a:r>
              <a:rPr lang="en-US" sz="1200" dirty="0">
                <a:solidFill>
                  <a:srgbClr val="1C1917"/>
                </a:solidFill>
                <a:latin typeface="Arial" pitchFamily="34" charset="0"/>
                <a:ea typeface="Arial" pitchFamily="34" charset="-122"/>
                <a:cs typeface="Arial" pitchFamily="34" charset="-120"/>
              </a:rPr>
              <a:t>Anteil der Zugriffe mit dokumentierter Rolle. Stunden bis ein ausgeschiedenes Konto gesperrt ist. Schulungen gegen Soll.</a:t>
            </a:r>
            <a:endParaRPr lang="en-US" sz="1200" dirty="0"/>
          </a:p>
        </p:txBody>
      </p:sp>
      <p:sp>
        <p:nvSpPr>
          <p:cNvPr id="34" name="Text 32"/>
          <p:cNvSpPr/>
          <p:nvPr/>
        </p:nvSpPr>
        <p:spPr>
          <a:xfrm>
            <a:off x="502920" y="6510528"/>
            <a:ext cx="7498080" cy="219456"/>
          </a:xfrm>
          <a:prstGeom prst="rect">
            <a:avLst/>
          </a:prstGeom>
          <a:noFill/>
          <a:ln/>
        </p:spPr>
        <p:txBody>
          <a:bodyPr wrap="square" lIns="0" tIns="0" rIns="0" bIns="0" rtlCol="0" anchor="ctr"/>
          <a:lstStyle/>
          <a:p>
            <a:pPr indent="0" marL="0">
              <a:buNone/>
            </a:pPr>
            <a:r>
              <a:rPr lang="en-US" sz="1100" dirty="0">
                <a:solidFill>
                  <a:srgbClr val="5E6A64"/>
                </a:solidFill>
                <a:latin typeface="Arial" pitchFamily="34" charset="0"/>
                <a:ea typeface="Arial" pitchFamily="34" charset="-122"/>
                <a:cs typeface="Arial" pitchFamily="34" charset="-120"/>
              </a:rPr>
              <a:t>622.760  ·  Gruppe 1  ·  fiktives Unternehmen  ·  Abgabe 03.11.2026</a:t>
            </a:r>
            <a:endParaRPr lang="en-US" sz="1100" dirty="0"/>
          </a:p>
        </p:txBody>
      </p:sp>
      <p:sp>
        <p:nvSpPr>
          <p:cNvPr id="35" name="Text 33"/>
          <p:cNvSpPr/>
          <p:nvPr/>
        </p:nvSpPr>
        <p:spPr>
          <a:xfrm>
            <a:off x="6766560" y="6510528"/>
            <a:ext cx="4937760" cy="219456"/>
          </a:xfrm>
          <a:prstGeom prst="rect">
            <a:avLst/>
          </a:prstGeom>
          <a:noFill/>
          <a:ln/>
        </p:spPr>
        <p:txBody>
          <a:bodyPr wrap="square" lIns="0" tIns="0" rIns="0" bIns="0" rtlCol="0" anchor="ctr"/>
          <a:lstStyle/>
          <a:p>
            <a:pPr algn="r" indent="0" marL="0">
              <a:buNone/>
            </a:pPr>
            <a:r>
              <a:rPr lang="en-US" sz="1100" dirty="0">
                <a:solidFill>
                  <a:srgbClr val="5E6A64"/>
                </a:solidFill>
                <a:latin typeface="Arial" pitchFamily="34" charset="0"/>
                <a:ea typeface="Arial" pitchFamily="34" charset="-122"/>
                <a:cs typeface="Arial" pitchFamily="34" charset="-120"/>
              </a:rPr>
              <a:t>Bleier · Bugelnig · Lugger · Mele · Schmickl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Pelvina Reha GmbH – Informationssicherheitsstrategie</dc:title>
  <dc:subject>622.760 Gruppenarbeit 1</dc:subject>
  <dc:creator>Gruppe 1</dc:creator>
  <cp:lastModifiedBy>Gruppe 1</cp:lastModifiedBy>
  <cp:revision>1</cp:revision>
  <dcterms:created xsi:type="dcterms:W3CDTF">2026-10-31T10:11:00Z</dcterms:created>
  <dcterms:modified xsi:type="dcterms:W3CDTF">2026-10-31T10:11:00Z</dcterms:modified>
</cp:coreProperties>
</file>